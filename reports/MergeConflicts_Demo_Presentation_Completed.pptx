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Team Merge Conflicts, and this is our Urban Flow Analytics solution. We transformed more than 45.5 million processed taxi trips into operational intelligence for fare estimation, trip-duration prediction, demand forecasting, spatial analytics, a business dashboard, and an AI mobility assistant.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first built a reliable analytical dataset using chronological train, validation, and test splits. We checked major data-quality issues such as negative fares, zero-distance trips, invalid durations, and unrealistic speeds. We also followed a leakage-safe feature contract so information from after the trip does not enter pre-trip predictions.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fare prediction, Linear Regression was the strongest tested model. On the final chronological test set, it achieved an MAE of 5.57, RMSE of 10.32, and an R-squared of 0.676. Estimated route distance significantly improved prediction quality, but we only use that feature under the assumption that a route estimate is available before the trip begins.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trip duration, Linear Regression again performed best among the tested models. It achieved a final test MAE of about 5.8 minutes. Duration prediction is harder because extreme long trips increase RMSE, and our dataset does not contain live traffic, incidents, road conditions, or weather information.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Forecast performance depends on the planning horizon. Gradient Boosting performs best at 24 hours, while the seasonal baseline performs better at 48 and 72 hours. Spatial analysis also shows strong concentration in Upper East Side South, JFK Airport, and Midtown Center. Manhattan-to-Manhattan trips represent 79.58 percent of retained movements, while evening pickup intensity is about 2.08 times the morning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then transformed the verified analytical outputs into a professional management dashboard. The Executive Overview summarizes the operational picture. Managers can explore demand and hotspot patterns, compare forecast horizons, and review recommendations directly linked to the analytical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 Mobility Assistant provides a natural-language interface to the same verified analytics. Users can select example questions directly from the sidebar, edit them if needed, and view previous analyses in the query history. The system uses deterministic intent routing, entity extraction, and predefined analytics functions rather than arbitrary code execution, so its responses remain grounded in the verified project outputs.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complete architecture. Raw taxi and zone data first pass through validation, cleaning, and shared feature engineering. Those trusted features feed fare prediction, duration prediction, demand forecasting, and spatial analysis. Verified outputs then power the business dashboard and AI assistant, which provide the final operational decision-support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Merge Conflicts created an end-to-end solution combining predictive modelling, demand forecasting, spatial intelligence, a business dashboard, and a verified analytics assistant. Together, these components transform large-scale taxi data into practical operational decision support.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RIGHT">
    <p:bg>
      <p:bgPr>
        <a:solidFill>
          <a:srgbClr val="F7FBFF"/>
        </a:solidFill>
      </p:bgPr>
    </p:bg>
    <p:spTree>
      <p:nvGrpSpPr>
        <p:cNvPr id="1" name=""/>
        <p:cNvGrpSpPr/>
        <p:nvPr/>
      </p:nvGrpSpPr>
      <p:grpSpPr>
        <a:xfrm>
          <a:off x="0" y="0"/>
          <a:ext cx="0" cy="0"/>
          <a:chOff x="0" y="0"/>
          <a:chExt cx="0" cy="0"/>
        </a:xfrm>
      </p:grpSpPr>
      <p:sp>
        <p:nvSpPr>
          <p:cNvPr id="2" name="Shape 0"/>
          <p:cNvSpPr/>
          <p:nvPr/>
        </p:nvSpPr>
        <p:spPr>
          <a:xfrm>
            <a:off x="502920" y="6565392"/>
            <a:ext cx="11155680" cy="0"/>
          </a:xfrm>
          <a:prstGeom prst="line">
            <a:avLst/>
          </a:prstGeom>
          <a:noFill/>
          <a:ln w="10160">
            <a:solidFill>
              <a:srgbClr val="D8EAF7"/>
            </a:solidFill>
            <a:prstDash val="solid"/>
          </a:ln>
        </p:spPr>
      </p:sp>
      <p:sp>
        <p:nvSpPr>
          <p:cNvPr id="3" name="Text 1"/>
          <p:cNvSpPr/>
          <p:nvPr/>
        </p:nvSpPr>
        <p:spPr>
          <a:xfrm>
            <a:off x="548640" y="6601968"/>
            <a:ext cx="4572000" cy="164592"/>
          </a:xfrm>
          <a:prstGeom prst="rect">
            <a:avLst/>
          </a:prstGeom>
          <a:noFill/>
          <a:ln/>
        </p:spPr>
        <p:txBody>
          <a:bodyPr wrap="square" rtlCol="0" anchor="ctr"/>
          <a:lstStyle/>
          <a:p>
            <a:pPr indent="0" marL="0">
              <a:buNone/>
            </a:pPr>
            <a:r>
              <a:rPr lang="en-US" sz="650" dirty="0">
                <a:solidFill>
                  <a:srgbClr val="6B7B8B"/>
                </a:solidFill>
                <a:latin typeface="Aptos" pitchFamily="34" charset="0"/>
                <a:ea typeface="Aptos" pitchFamily="34" charset="-122"/>
                <a:cs typeface="Aptos" pitchFamily="34" charset="-120"/>
              </a:rPr>
              <a:t>Merge Conflicts • Urban Flow Analytics</a:t>
            </a:r>
            <a:endParaRPr lang="en-US" sz="650" dirty="0"/>
          </a:p>
        </p:txBody>
      </p:sp>
      <p:sp>
        <p:nvSpPr>
          <p:cNvPr id="25" name="Slide Number Placeholder 0"/>
          <p:cNvSpPr>
            <a:spLocks noGrp="1"/>
          </p:cNvSpPr>
          <p:nvPr>
            <p:ph type="sldNum" sz="quarter" idx="4294967295"/>
          </p:nvPr>
        </p:nvSpPr>
        <p:spPr>
          <a:xfrm>
            <a:off x="11228832" y="6565392"/>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B7B8B"/>
                </a:solidFill>
                <a:latin typeface="Aptos"/>
                <a:ea typeface="Aptos"/>
                <a:cs typeface="Aptos"/>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28832" y="6565392"/>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B7B8B"/>
                </a:solidFill>
                <a:latin typeface="Aptos"/>
                <a:ea typeface="Aptos"/>
                <a:cs typeface="Aptos"/>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UfaAsset1" Type="http://schemas.openxmlformats.org/officeDocument/2006/relationships/image" Target="../media/ufa_asset_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UfaAsset1" Type="http://schemas.openxmlformats.org/officeDocument/2006/relationships/image" Target="../media/ufa_asset_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UfaAsset1" Type="http://schemas.openxmlformats.org/officeDocument/2006/relationships/image" Target="../media/ufa_asset_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UfaAsset1" Type="http://schemas.openxmlformats.org/officeDocument/2006/relationships/image" Target="../media/ufa_asset_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UfaAsset1" Type="http://schemas.openxmlformats.org/officeDocument/2006/relationships/image" Target="../media/ufa_asset_5.png"/><Relationship Id="rIdUfaAsset2" Type="http://schemas.openxmlformats.org/officeDocument/2006/relationships/image" Target="../media/ufa_asset_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UfaAsset1" Type="http://schemas.openxmlformats.org/officeDocument/2006/relationships/image" Target="../media/ufa_asset_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UfaAsset1" Type="http://schemas.openxmlformats.org/officeDocument/2006/relationships/image" Target="../media/ufa_asset_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UfaAsset1" Type="http://schemas.openxmlformats.org/officeDocument/2006/relationships/image" Target="../media/ufa_asset_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UfaAsset1" Type="http://schemas.openxmlformats.org/officeDocument/2006/relationships/image" Target="../media/ufa_asset_1.png"/><Relationship Id="rIdUfaAsset2" Type="http://schemas.openxmlformats.org/officeDocument/2006/relationships/image" Target="../media/ufa_asset_7.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BFF"/>
        </a:solidFill>
      </p:bgPr>
    </p:bg>
    <p:spTree>
      <p:nvGrpSpPr>
        <p:cNvPr id="1" name=""/>
        <p:cNvGrpSpPr/>
        <p:nvPr/>
      </p:nvGrpSpPr>
      <p:grpSpPr>
        <a:xfrm>
          <a:off x="0" y="0"/>
          <a:ext cx="0" cy="0"/>
          <a:chOff x="0" y="0"/>
          <a:chExt cx="0" cy="0"/>
        </a:xfrm>
      </p:grpSpPr>
      <p:sp>
        <p:nvSpPr>
          <p:cNvPr id="2" name="Text 0"/>
          <p:cNvSpPr/>
          <p:nvPr/>
        </p:nvSpPr>
        <p:spPr>
          <a:xfrm>
            <a:off x="594360" y="841248"/>
            <a:ext cx="4480560" cy="1115568"/>
          </a:xfrm>
          <a:prstGeom prst="rect">
            <a:avLst/>
          </a:prstGeom>
          <a:noFill/>
          <a:ln/>
        </p:spPr>
        <p:txBody>
          <a:bodyPr wrap="square" lIns="254" tIns="254" rIns="254" bIns="254" rtlCol="0" anchor="ctr">
            <a:normAutofit/>
          </a:bodyPr>
          <a:lstStyle/>
          <a:p>
            <a:pPr indent="0" marL="0">
              <a:buNone/>
            </a:pPr>
            <a:r>
              <a:rPr lang="en-US" sz="3000" b="1" dirty="0">
                <a:solidFill>
                  <a:srgbClr val="0B2C4D"/>
                </a:solidFill>
              </a:rPr>
              <a:t>URBAN FLOW</a:t>
            </a:r>
            <a:endParaRPr lang="en-US" sz="3000" dirty="0"/>
          </a:p>
          <a:p>
            <a:pPr indent="0" marL="0">
              <a:buNone/>
            </a:pPr>
            <a:r>
              <a:rPr lang="en-US" sz="3000" b="1" dirty="0">
                <a:solidFill>
                  <a:srgbClr val="0B2C4D"/>
                </a:solidFill>
              </a:rPr>
              <a:t>ANALYTICS</a:t>
            </a:r>
            <a:endParaRPr lang="en-US" sz="3000" dirty="0"/>
          </a:p>
        </p:txBody>
      </p:sp>
      <p:sp>
        <p:nvSpPr>
          <p:cNvPr id="3" name="Text 1"/>
          <p:cNvSpPr/>
          <p:nvPr/>
        </p:nvSpPr>
        <p:spPr>
          <a:xfrm>
            <a:off x="621792" y="2084832"/>
            <a:ext cx="4572000" cy="256032"/>
          </a:xfrm>
          <a:prstGeom prst="rect">
            <a:avLst/>
          </a:prstGeom>
          <a:noFill/>
          <a:ln/>
        </p:spPr>
        <p:txBody>
          <a:bodyPr wrap="square" lIns="254" tIns="254" rIns="254" bIns="254" rtlCol="0" anchor="ctr"/>
          <a:lstStyle/>
          <a:p>
            <a:pPr indent="0" marL="0">
              <a:buNone/>
            </a:pPr>
            <a:r>
              <a:rPr lang="en-US" sz="1400" b="1" dirty="0">
                <a:solidFill>
                  <a:srgbClr val="13A6A6"/>
                </a:solidFill>
              </a:rPr>
              <a:t>Data-Driven Taxi Operations Intelligence</a:t>
            </a:r>
            <a:endParaRPr lang="en-US" sz="1400" dirty="0"/>
          </a:p>
        </p:txBody>
      </p:sp>
      <p:sp>
        <p:nvSpPr>
          <p:cNvPr id="4" name="Text 2"/>
          <p:cNvSpPr/>
          <p:nvPr/>
        </p:nvSpPr>
        <p:spPr>
          <a:xfrm>
            <a:off x="621792" y="2450592"/>
            <a:ext cx="4846320" cy="219456"/>
          </a:xfrm>
          <a:prstGeom prst="rect">
            <a:avLst/>
          </a:prstGeom>
          <a:noFill/>
          <a:ln/>
        </p:spPr>
        <p:txBody>
          <a:bodyPr wrap="square" lIns="254" tIns="254" rIns="254" bIns="254" rtlCol="0" anchor="ctr"/>
          <a:lstStyle/>
          <a:p>
            <a:pPr indent="0" marL="0">
              <a:buNone/>
            </a:pPr>
            <a:r>
              <a:rPr lang="en-US" sz="1100" dirty="0">
                <a:solidFill>
                  <a:srgbClr val="5E6B75"/>
                </a:solidFill>
              </a:rPr>
              <a:t>Team Merge Conflicts • Codefest Datathon 2026</a:t>
            </a:r>
            <a:endParaRPr lang="en-US" sz="1100" dirty="0"/>
          </a:p>
        </p:txBody>
      </p:sp>
      <p:sp>
        <p:nvSpPr>
          <p:cNvPr id="5" name="Shape 3"/>
          <p:cNvSpPr/>
          <p:nvPr/>
        </p:nvSpPr>
        <p:spPr>
          <a:xfrm>
            <a:off x="621792" y="3017520"/>
            <a:ext cx="1508760" cy="914400"/>
          </a:xfrm>
          <a:prstGeom prst="roundRect">
            <a:avLst>
              <a:gd name="adj" fmla="val 8000"/>
            </a:avLst>
          </a:prstGeom>
          <a:solidFill>
            <a:srgbClr val="E9F4FF"/>
          </a:solidFill>
          <a:ln w="12700">
            <a:solidFill>
              <a:srgbClr val="E9F4FF"/>
            </a:solidFill>
            <a:prstDash val="solid"/>
          </a:ln>
        </p:spPr>
      </p:sp>
      <p:sp>
        <p:nvSpPr>
          <p:cNvPr id="6" name="Text 4"/>
          <p:cNvSpPr/>
          <p:nvPr/>
        </p:nvSpPr>
        <p:spPr>
          <a:xfrm>
            <a:off x="749808" y="3154680"/>
            <a:ext cx="1252728" cy="329184"/>
          </a:xfrm>
          <a:prstGeom prst="rect">
            <a:avLst/>
          </a:prstGeom>
          <a:noFill/>
          <a:ln/>
        </p:spPr>
        <p:txBody>
          <a:bodyPr wrap="square" lIns="127" tIns="127" rIns="127" bIns="127" rtlCol="0" anchor="ctr">
            <a:normAutofit/>
          </a:bodyPr>
          <a:lstStyle/>
          <a:p>
            <a:pPr algn="ctr" indent="0" marL="0">
              <a:buNone/>
            </a:pPr>
            <a:r>
              <a:rPr lang="en-US" sz="1800" b="1" dirty="0">
                <a:solidFill>
                  <a:srgbClr val="2578D5"/>
                </a:solidFill>
              </a:rPr>
              <a:t>45.5M</a:t>
            </a:r>
            <a:endParaRPr lang="en-US" sz="1800" dirty="0"/>
          </a:p>
        </p:txBody>
      </p:sp>
      <p:sp>
        <p:nvSpPr>
          <p:cNvPr id="7" name="Text 5"/>
          <p:cNvSpPr/>
          <p:nvPr/>
        </p:nvSpPr>
        <p:spPr>
          <a:xfrm>
            <a:off x="768096" y="3520440"/>
            <a:ext cx="1216152" cy="320040"/>
          </a:xfrm>
          <a:prstGeom prst="rect">
            <a:avLst/>
          </a:prstGeom>
          <a:noFill/>
          <a:ln/>
        </p:spPr>
        <p:txBody>
          <a:bodyPr wrap="square" lIns="127" tIns="127" rIns="127" bIns="127" rtlCol="0" anchor="ctr">
            <a:normAutofit/>
          </a:bodyPr>
          <a:lstStyle/>
          <a:p>
            <a:pPr algn="ctr" indent="0" marL="0">
              <a:buNone/>
            </a:pPr>
            <a:r>
              <a:rPr lang="en-US" sz="770" b="1" dirty="0">
                <a:solidFill>
                  <a:srgbClr val="192B3A"/>
                </a:solidFill>
              </a:rPr>
              <a:t>Processed Trips</a:t>
            </a:r>
            <a:endParaRPr lang="en-US" sz="770" dirty="0"/>
          </a:p>
        </p:txBody>
      </p:sp>
      <p:sp>
        <p:nvSpPr>
          <p:cNvPr id="8" name="Shape 6"/>
          <p:cNvSpPr/>
          <p:nvPr/>
        </p:nvSpPr>
        <p:spPr>
          <a:xfrm>
            <a:off x="2331720" y="3017520"/>
            <a:ext cx="1508760" cy="914400"/>
          </a:xfrm>
          <a:prstGeom prst="roundRect">
            <a:avLst>
              <a:gd name="adj" fmla="val 8000"/>
            </a:avLst>
          </a:prstGeom>
          <a:solidFill>
            <a:srgbClr val="DDF7F5"/>
          </a:solidFill>
          <a:ln w="12700">
            <a:solidFill>
              <a:srgbClr val="DDF7F5"/>
            </a:solidFill>
            <a:prstDash val="solid"/>
          </a:ln>
        </p:spPr>
      </p:sp>
      <p:sp>
        <p:nvSpPr>
          <p:cNvPr id="9" name="Text 7"/>
          <p:cNvSpPr/>
          <p:nvPr/>
        </p:nvSpPr>
        <p:spPr>
          <a:xfrm>
            <a:off x="2459736" y="3154680"/>
            <a:ext cx="1252728" cy="329184"/>
          </a:xfrm>
          <a:prstGeom prst="rect">
            <a:avLst/>
          </a:prstGeom>
          <a:noFill/>
          <a:ln/>
        </p:spPr>
        <p:txBody>
          <a:bodyPr wrap="square" lIns="127" tIns="127" rIns="127" bIns="127" rtlCol="0" anchor="ctr">
            <a:normAutofit/>
          </a:bodyPr>
          <a:lstStyle/>
          <a:p>
            <a:pPr algn="ctr" indent="0" marL="0">
              <a:buNone/>
            </a:pPr>
            <a:r>
              <a:rPr lang="en-US" sz="1800" b="1" dirty="0">
                <a:solidFill>
                  <a:srgbClr val="13A6A6"/>
                </a:solidFill>
              </a:rPr>
              <a:t>2</a:t>
            </a:r>
            <a:endParaRPr lang="en-US" sz="1800" dirty="0"/>
          </a:p>
        </p:txBody>
      </p:sp>
      <p:sp>
        <p:nvSpPr>
          <p:cNvPr id="10" name="Text 8"/>
          <p:cNvSpPr/>
          <p:nvPr/>
        </p:nvSpPr>
        <p:spPr>
          <a:xfrm>
            <a:off x="2478024" y="3520440"/>
            <a:ext cx="1216152" cy="320040"/>
          </a:xfrm>
          <a:prstGeom prst="rect">
            <a:avLst/>
          </a:prstGeom>
          <a:noFill/>
          <a:ln/>
        </p:spPr>
        <p:txBody>
          <a:bodyPr wrap="square" lIns="127" tIns="127" rIns="127" bIns="127" rtlCol="0" anchor="ctr">
            <a:normAutofit/>
          </a:bodyPr>
          <a:lstStyle/>
          <a:p>
            <a:pPr algn="ctr" indent="0" marL="0">
              <a:buNone/>
            </a:pPr>
            <a:r>
              <a:rPr lang="en-US" sz="770" b="1" dirty="0">
                <a:solidFill>
                  <a:srgbClr val="192B3A"/>
                </a:solidFill>
              </a:rPr>
              <a:t>Predictive Models</a:t>
            </a:r>
            <a:endParaRPr lang="en-US" sz="770" dirty="0"/>
          </a:p>
        </p:txBody>
      </p:sp>
      <p:sp>
        <p:nvSpPr>
          <p:cNvPr id="11" name="Shape 9"/>
          <p:cNvSpPr/>
          <p:nvPr/>
        </p:nvSpPr>
        <p:spPr>
          <a:xfrm>
            <a:off x="4041648" y="3017520"/>
            <a:ext cx="1600200" cy="914400"/>
          </a:xfrm>
          <a:prstGeom prst="roundRect">
            <a:avLst>
              <a:gd name="adj" fmla="val 8000"/>
            </a:avLst>
          </a:prstGeom>
          <a:solidFill>
            <a:srgbClr val="FFF2D9"/>
          </a:solidFill>
          <a:ln w="12700">
            <a:solidFill>
              <a:srgbClr val="FFF2D9"/>
            </a:solidFill>
            <a:prstDash val="solid"/>
          </a:ln>
        </p:spPr>
      </p:sp>
      <p:sp>
        <p:nvSpPr>
          <p:cNvPr id="12" name="Text 10"/>
          <p:cNvSpPr/>
          <p:nvPr/>
        </p:nvSpPr>
        <p:spPr>
          <a:xfrm>
            <a:off x="4169664" y="3154680"/>
            <a:ext cx="1344168" cy="329184"/>
          </a:xfrm>
          <a:prstGeom prst="rect">
            <a:avLst/>
          </a:prstGeom>
          <a:noFill/>
          <a:ln/>
        </p:spPr>
        <p:txBody>
          <a:bodyPr wrap="square" lIns="127" tIns="127" rIns="127" bIns="127" rtlCol="0" anchor="ctr">
            <a:normAutofit/>
          </a:bodyPr>
          <a:lstStyle/>
          <a:p>
            <a:pPr algn="ctr" indent="0" marL="0">
              <a:buNone/>
            </a:pPr>
            <a:r>
              <a:rPr lang="en-US" sz="1800" b="1" dirty="0">
                <a:solidFill>
                  <a:srgbClr val="C87B00"/>
                </a:solidFill>
              </a:rPr>
              <a:t>24/48/72h</a:t>
            </a:r>
            <a:endParaRPr lang="en-US" sz="1800" dirty="0"/>
          </a:p>
        </p:txBody>
      </p:sp>
      <p:sp>
        <p:nvSpPr>
          <p:cNvPr id="13" name="Text 11"/>
          <p:cNvSpPr/>
          <p:nvPr/>
        </p:nvSpPr>
        <p:spPr>
          <a:xfrm>
            <a:off x="4187952" y="3520440"/>
            <a:ext cx="1307592" cy="320040"/>
          </a:xfrm>
          <a:prstGeom prst="rect">
            <a:avLst/>
          </a:prstGeom>
          <a:noFill/>
          <a:ln/>
        </p:spPr>
        <p:txBody>
          <a:bodyPr wrap="square" lIns="127" tIns="127" rIns="127" bIns="127" rtlCol="0" anchor="ctr">
            <a:normAutofit/>
          </a:bodyPr>
          <a:lstStyle/>
          <a:p>
            <a:pPr algn="ctr" indent="0" marL="0">
              <a:buNone/>
            </a:pPr>
            <a:r>
              <a:rPr lang="en-US" sz="770" b="1" dirty="0">
                <a:solidFill>
                  <a:srgbClr val="192B3A"/>
                </a:solidFill>
              </a:rPr>
              <a:t>Forecast Horizons</a:t>
            </a:r>
            <a:endParaRPr lang="en-US" sz="770" dirty="0"/>
          </a:p>
        </p:txBody>
      </p:sp>
      <p:sp>
        <p:nvSpPr>
          <p:cNvPr id="14" name="Text 12"/>
          <p:cNvSpPr/>
          <p:nvPr/>
        </p:nvSpPr>
        <p:spPr>
          <a:xfrm>
            <a:off x="658368" y="4297680"/>
            <a:ext cx="5166360" cy="502920"/>
          </a:xfrm>
          <a:prstGeom prst="rect">
            <a:avLst/>
          </a:prstGeom>
          <a:noFill/>
          <a:ln/>
        </p:spPr>
        <p:txBody>
          <a:bodyPr wrap="square" lIns="254" tIns="254" rIns="254" bIns="254" rtlCol="0" anchor="ctr">
            <a:normAutofit/>
          </a:bodyPr>
          <a:lstStyle/>
          <a:p>
            <a:pPr indent="0" marL="0">
              <a:buNone/>
            </a:pPr>
            <a:r>
              <a:rPr lang="en-US" sz="1040" b="1" dirty="0">
                <a:solidFill>
                  <a:srgbClr val="192B3A"/>
                </a:solidFill>
              </a:rPr>
              <a:t>Fare Prediction • Duration Prediction • Demand Forecasting • Spatial Intelligence • Dashboard • AI Assistant</a:t>
            </a:r>
            <a:endParaRPr lang="en-US" sz="1040" dirty="0"/>
          </a:p>
        </p:txBody>
      </p:sp>
      <p:sp>
        <p:nvSpPr>
          <p:cNvPr id="15" name="Shape 13"/>
          <p:cNvSpPr/>
          <p:nvPr/>
        </p:nvSpPr>
        <p:spPr>
          <a:xfrm>
            <a:off x="5897880" y="640080"/>
            <a:ext cx="5715000" cy="5120640"/>
          </a:xfrm>
          <a:prstGeom prst="roundRect">
            <a:avLst>
              <a:gd name="adj" fmla="val 1786"/>
            </a:avLst>
          </a:prstGeom>
          <a:solidFill>
            <a:srgbClr val="FFFFFF"/>
          </a:solidFill>
          <a:ln w="17780">
            <a:solidFill>
              <a:srgbClr val="13A6A6"/>
            </a:solidFill>
            <a:prstDash val="solid"/>
          </a:ln>
        </p:spPr>
      </p:sp>
      <p:pic>
        <p:nvPicPr>
          <p:cNvPr id="29" name="dashboard_overview" descr="Source: reports/presentation_assets/dashboard_overview.png"/>
          <p:cNvPicPr>
            <a:picLocks noChangeAspect="1"/>
          </p:cNvPicPr>
          <p:nvPr/>
        </p:nvPicPr>
        <p:blipFill>
          <a:blip r:embed="rIdUfaAsset1"/>
          <a:stretch>
            <a:fillRect/>
          </a:stretch>
        </p:blipFill>
        <p:spPr>
          <a:xfrm>
            <a:off x="5970880" y="976667"/>
            <a:ext cx="5569000" cy="4447465"/>
          </a:xfrm>
          <a:prstGeom prst="rect">
            <a:avLst/>
          </a:prstGeom>
        </p:spPr>
      </p:pic>
      <p:sp>
        <p:nvSpPr>
          <p:cNvPr id="19" name="Text 17"/>
          <p:cNvSpPr/>
          <p:nvPr/>
        </p:nvSpPr>
        <p:spPr>
          <a:xfrm>
            <a:off x="6400800" y="6601968"/>
            <a:ext cx="4572000" cy="164592"/>
          </a:xfrm>
          <a:prstGeom prst="rect">
            <a:avLst/>
          </a:prstGeom>
          <a:noFill/>
          <a:ln/>
        </p:spPr>
        <p:txBody>
          <a:bodyPr wrap="square" lIns="0" tIns="0" rIns="0" bIns="0" rtlCol="0" anchor="ctr"/>
          <a:lstStyle/>
          <a:p>
            <a:pPr algn="r" indent="0" marL="0">
              <a:buNone/>
            </a:pPr>
            <a:r>
              <a:rPr lang="en-US" sz="650" dirty="0">
                <a:solidFill>
                  <a:srgbClr val="5E6B75"/>
                </a:solidFill>
              </a:rPr>
              <a:t>0:00–0:25</a:t>
            </a:r>
            <a:endParaRPr lang="en-US" sz="650" dirty="0"/>
          </a:p>
        </p:txBody>
      </p:sp>
      <p:sp>
        <p:nvSpPr>
          <p:cNvPr id="20" name="Shape 18"/>
          <p:cNvSpPr/>
          <p:nvPr/>
        </p:nvSpPr>
        <p:spPr>
          <a:xfrm>
            <a:off x="566928" y="6263640"/>
            <a:ext cx="109728" cy="109728"/>
          </a:xfrm>
          <a:prstGeom prst="ellipse">
            <a:avLst/>
          </a:prstGeom>
          <a:solidFill>
            <a:srgbClr val="13A6A6"/>
          </a:solidFill>
          <a:ln w="12700">
            <a:solidFill>
              <a:srgbClr val="13A6A6"/>
            </a:solidFill>
            <a:prstDash val="solid"/>
          </a:ln>
        </p:spPr>
      </p:sp>
      <p:sp>
        <p:nvSpPr>
          <p:cNvPr id="21" name="Shape 19"/>
          <p:cNvSpPr/>
          <p:nvPr/>
        </p:nvSpPr>
        <p:spPr>
          <a:xfrm>
            <a:off x="1051560" y="6263640"/>
            <a:ext cx="109728" cy="109728"/>
          </a:xfrm>
          <a:prstGeom prst="ellipse">
            <a:avLst/>
          </a:prstGeom>
          <a:solidFill>
            <a:srgbClr val="D5E6F2"/>
          </a:solidFill>
          <a:ln w="12700">
            <a:solidFill>
              <a:srgbClr val="D5E6F2"/>
            </a:solidFill>
            <a:prstDash val="solid"/>
          </a:ln>
        </p:spPr>
      </p:sp>
      <p:sp>
        <p:nvSpPr>
          <p:cNvPr id="22" name="Shape 20"/>
          <p:cNvSpPr/>
          <p:nvPr/>
        </p:nvSpPr>
        <p:spPr>
          <a:xfrm>
            <a:off x="1536192" y="6263640"/>
            <a:ext cx="109728" cy="109728"/>
          </a:xfrm>
          <a:prstGeom prst="ellipse">
            <a:avLst/>
          </a:prstGeom>
          <a:solidFill>
            <a:srgbClr val="D5E6F2"/>
          </a:solidFill>
          <a:ln w="12700">
            <a:solidFill>
              <a:srgbClr val="D5E6F2"/>
            </a:solidFill>
            <a:prstDash val="solid"/>
          </a:ln>
        </p:spPr>
      </p:sp>
      <p:sp>
        <p:nvSpPr>
          <p:cNvPr id="23" name="Shape 21"/>
          <p:cNvSpPr/>
          <p:nvPr/>
        </p:nvSpPr>
        <p:spPr>
          <a:xfrm>
            <a:off x="2020824" y="6263640"/>
            <a:ext cx="109728" cy="109728"/>
          </a:xfrm>
          <a:prstGeom prst="ellipse">
            <a:avLst/>
          </a:prstGeom>
          <a:solidFill>
            <a:srgbClr val="D5E6F2"/>
          </a:solidFill>
          <a:ln w="12700">
            <a:solidFill>
              <a:srgbClr val="D5E6F2"/>
            </a:solidFill>
            <a:prstDash val="solid"/>
          </a:ln>
        </p:spPr>
      </p:sp>
      <p:sp>
        <p:nvSpPr>
          <p:cNvPr id="24" name="Shape 22"/>
          <p:cNvSpPr/>
          <p:nvPr/>
        </p:nvSpPr>
        <p:spPr>
          <a:xfrm>
            <a:off x="2505456" y="6263640"/>
            <a:ext cx="109728" cy="109728"/>
          </a:xfrm>
          <a:prstGeom prst="ellipse">
            <a:avLst/>
          </a:prstGeom>
          <a:solidFill>
            <a:srgbClr val="D5E6F2"/>
          </a:solidFill>
          <a:ln w="12700">
            <a:solidFill>
              <a:srgbClr val="D5E6F2"/>
            </a:solidFill>
            <a:prstDash val="solid"/>
          </a:ln>
        </p:spPr>
      </p:sp>
      <p:sp>
        <p:nvSpPr>
          <p:cNvPr id="25" name="Shape 23"/>
          <p:cNvSpPr/>
          <p:nvPr/>
        </p:nvSpPr>
        <p:spPr>
          <a:xfrm>
            <a:off x="2990088" y="6263640"/>
            <a:ext cx="109728" cy="109728"/>
          </a:xfrm>
          <a:prstGeom prst="ellipse">
            <a:avLst/>
          </a:prstGeom>
          <a:solidFill>
            <a:srgbClr val="D5E6F2"/>
          </a:solidFill>
          <a:ln w="12700">
            <a:solidFill>
              <a:srgbClr val="D5E6F2"/>
            </a:solidFill>
            <a:prstDash val="solid"/>
          </a:ln>
        </p:spPr>
      </p:sp>
      <p:sp>
        <p:nvSpPr>
          <p:cNvPr id="26" name="Shape 24"/>
          <p:cNvSpPr/>
          <p:nvPr/>
        </p:nvSpPr>
        <p:spPr>
          <a:xfrm>
            <a:off x="3474720" y="6263640"/>
            <a:ext cx="109728" cy="109728"/>
          </a:xfrm>
          <a:prstGeom prst="ellipse">
            <a:avLst/>
          </a:prstGeom>
          <a:solidFill>
            <a:srgbClr val="D5E6F2"/>
          </a:solidFill>
          <a:ln w="12700">
            <a:solidFill>
              <a:srgbClr val="D5E6F2"/>
            </a:solidFill>
            <a:prstDash val="solid"/>
          </a:ln>
        </p:spPr>
      </p:sp>
      <p:sp>
        <p:nvSpPr>
          <p:cNvPr id="27" name="Shape 25"/>
          <p:cNvSpPr/>
          <p:nvPr/>
        </p:nvSpPr>
        <p:spPr>
          <a:xfrm>
            <a:off x="3959352" y="6263640"/>
            <a:ext cx="109728" cy="109728"/>
          </a:xfrm>
          <a:prstGeom prst="ellipse">
            <a:avLst/>
          </a:prstGeom>
          <a:solidFill>
            <a:srgbClr val="D5E6F2"/>
          </a:solidFill>
          <a:ln w="12700">
            <a:solidFill>
              <a:srgbClr val="D5E6F2"/>
            </a:solidFill>
            <a:prstDash val="solid"/>
          </a:ln>
        </p:spPr>
      </p:sp>
      <p:sp>
        <p:nvSpPr>
          <p:cNvPr id="28" name="Shape 26"/>
          <p:cNvSpPr/>
          <p:nvPr/>
        </p:nvSpPr>
        <p:spPr>
          <a:xfrm>
            <a:off x="4443984" y="6263640"/>
            <a:ext cx="109728" cy="109728"/>
          </a:xfrm>
          <a:prstGeom prst="ellipse">
            <a:avLst/>
          </a:prstGeom>
          <a:solidFill>
            <a:srgbClr val="D5E6F2"/>
          </a:solidFill>
          <a:ln w="12700">
            <a:solidFill>
              <a:srgbClr val="D5E6F2"/>
            </a:solidFill>
            <a:prstDash val="solid"/>
          </a:ln>
        </p:spPr>
      </p:sp>
      <p:sp>
        <p:nvSpPr>
          <p:cNvPr id="25" name="Slide Number Placeholder 0"/>
          <p:cNvSpPr>
            <a:spLocks noGrp="1"/>
          </p:cNvSpPr>
          <p:nvPr>
            <p:ph type="sldNum" sz="quarter" idx="4294967295"/>
          </p:nvPr>
        </p:nvSpPr>
        <p:spPr>
          <a:xfrm>
            <a:off x="11228832" y="6565392"/>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B7B8B"/>
                </a:solidFill>
                <a:latin typeface="Aptos"/>
                <a:ea typeface="Aptos"/>
                <a:cs typeface="Aptos"/>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274320"/>
            <a:ext cx="7589520" cy="438912"/>
          </a:xfrm>
          <a:prstGeom prst="rect">
            <a:avLst/>
          </a:prstGeom>
          <a:noFill/>
          <a:ln/>
        </p:spPr>
        <p:txBody>
          <a:bodyPr wrap="square" lIns="254" tIns="254" rIns="254" bIns="254" rtlCol="0" anchor="ctr">
            <a:normAutofit/>
          </a:bodyPr>
          <a:lstStyle/>
          <a:p>
            <a:pPr indent="0" marL="0">
              <a:buNone/>
            </a:pPr>
            <a:r>
              <a:rPr lang="en-US" sz="2400" b="1" dirty="0">
                <a:solidFill>
                  <a:srgbClr val="0B2C4D"/>
                </a:solidFill>
                <a:latin typeface="Aptos Display" pitchFamily="34" charset="0"/>
                <a:ea typeface="Aptos Display" pitchFamily="34" charset="-122"/>
                <a:cs typeface="Aptos Display" pitchFamily="34" charset="-120"/>
              </a:rPr>
              <a:t>Data Preparation &amp; Methodology</a:t>
            </a:r>
            <a:endParaRPr lang="en-US" sz="2400" dirty="0"/>
          </a:p>
        </p:txBody>
      </p:sp>
      <p:sp>
        <p:nvSpPr>
          <p:cNvPr id="3" name="Text 1"/>
          <p:cNvSpPr/>
          <p:nvPr/>
        </p:nvSpPr>
        <p:spPr>
          <a:xfrm>
            <a:off x="521208" y="749808"/>
            <a:ext cx="9875520" cy="228600"/>
          </a:xfrm>
          <a:prstGeom prst="rect">
            <a:avLst/>
          </a:prstGeom>
          <a:noFill/>
          <a:ln/>
        </p:spPr>
        <p:txBody>
          <a:bodyPr wrap="square" lIns="254" tIns="254" rIns="254" bIns="254" rtlCol="0" anchor="ctr"/>
          <a:lstStyle/>
          <a:p>
            <a:pPr indent="0" marL="0">
              <a:buNone/>
            </a:pPr>
            <a:r>
              <a:rPr lang="en-US" sz="1050" dirty="0">
                <a:solidFill>
                  <a:srgbClr val="5E6B75"/>
                </a:solidFill>
              </a:rPr>
              <a:t>A trusted modelling view built from large-scale taxi and zone data</a:t>
            </a:r>
            <a:endParaRPr lang="en-US" sz="1050" dirty="0"/>
          </a:p>
        </p:txBody>
      </p:sp>
      <p:sp>
        <p:nvSpPr>
          <p:cNvPr id="4" name="Shape 2"/>
          <p:cNvSpPr/>
          <p:nvPr/>
        </p:nvSpPr>
        <p:spPr>
          <a:xfrm>
            <a:off x="594360" y="1234440"/>
            <a:ext cx="2103120" cy="804672"/>
          </a:xfrm>
          <a:prstGeom prst="roundRect">
            <a:avLst>
              <a:gd name="adj" fmla="val 9091"/>
            </a:avLst>
          </a:prstGeom>
          <a:solidFill>
            <a:srgbClr val="FFFFFF"/>
          </a:solidFill>
          <a:ln w="13970">
            <a:solidFill>
              <a:srgbClr val="D6E8F6"/>
            </a:solidFill>
            <a:prstDash val="solid"/>
          </a:ln>
        </p:spPr>
      </p:sp>
      <p:sp>
        <p:nvSpPr>
          <p:cNvPr id="5" name="Text 3"/>
          <p:cNvSpPr/>
          <p:nvPr/>
        </p:nvSpPr>
        <p:spPr>
          <a:xfrm>
            <a:off x="731520" y="1344168"/>
            <a:ext cx="1828800" cy="164592"/>
          </a:xfrm>
          <a:prstGeom prst="rect">
            <a:avLst/>
          </a:prstGeom>
          <a:noFill/>
          <a:ln/>
        </p:spPr>
        <p:txBody>
          <a:bodyPr wrap="square" lIns="127" tIns="127" rIns="127" bIns="127" rtlCol="0" anchor="ctr"/>
          <a:lstStyle/>
          <a:p>
            <a:pPr indent="0" marL="0">
              <a:buNone/>
            </a:pPr>
            <a:r>
              <a:rPr lang="en-US" sz="800" b="1" dirty="0">
                <a:solidFill>
                  <a:srgbClr val="5E6B75"/>
                </a:solidFill>
              </a:rPr>
              <a:t>PROCESSED TRIPS</a:t>
            </a:r>
            <a:endParaRPr lang="en-US" sz="800" dirty="0"/>
          </a:p>
        </p:txBody>
      </p:sp>
      <p:sp>
        <p:nvSpPr>
          <p:cNvPr id="6" name="Text 4"/>
          <p:cNvSpPr/>
          <p:nvPr/>
        </p:nvSpPr>
        <p:spPr>
          <a:xfrm>
            <a:off x="731520" y="1545336"/>
            <a:ext cx="1828800" cy="256032"/>
          </a:xfrm>
          <a:prstGeom prst="rect">
            <a:avLst/>
          </a:prstGeom>
          <a:noFill/>
          <a:ln/>
        </p:spPr>
        <p:txBody>
          <a:bodyPr wrap="square" lIns="127" tIns="127" rIns="127" bIns="127" rtlCol="0" anchor="ctr">
            <a:normAutofit/>
          </a:bodyPr>
          <a:lstStyle/>
          <a:p>
            <a:pPr indent="0" marL="0">
              <a:buNone/>
            </a:pPr>
            <a:r>
              <a:rPr lang="en-US" sz="1700" b="1" dirty="0">
                <a:solidFill>
                  <a:srgbClr val="2578D5"/>
                </a:solidFill>
              </a:rPr>
              <a:t>45,533,334</a:t>
            </a:r>
            <a:endParaRPr lang="en-US" sz="1700" dirty="0"/>
          </a:p>
        </p:txBody>
      </p:sp>
      <p:sp>
        <p:nvSpPr>
          <p:cNvPr id="7" name="Text 5"/>
          <p:cNvSpPr/>
          <p:nvPr/>
        </p:nvSpPr>
        <p:spPr>
          <a:xfrm>
            <a:off x="731520" y="1837944"/>
            <a:ext cx="1828800" cy="128016"/>
          </a:xfrm>
          <a:prstGeom prst="rect">
            <a:avLst/>
          </a:prstGeom>
          <a:noFill/>
          <a:ln/>
        </p:spPr>
        <p:txBody>
          <a:bodyPr wrap="square" lIns="127" tIns="127" rIns="127" bIns="127" rtlCol="0" anchor="ctr">
            <a:normAutofit/>
          </a:bodyPr>
          <a:lstStyle/>
          <a:p>
            <a:pPr indent="0" marL="0">
              <a:buNone/>
            </a:pPr>
            <a:r>
              <a:rPr lang="en-US" sz="670" dirty="0">
                <a:solidFill>
                  <a:srgbClr val="5E6B75"/>
                </a:solidFill>
              </a:rPr>
              <a:t>April 2025–March 2026</a:t>
            </a:r>
            <a:endParaRPr lang="en-US" sz="670" dirty="0"/>
          </a:p>
        </p:txBody>
      </p:sp>
      <p:sp>
        <p:nvSpPr>
          <p:cNvPr id="8" name="Shape 6"/>
          <p:cNvSpPr/>
          <p:nvPr/>
        </p:nvSpPr>
        <p:spPr>
          <a:xfrm>
            <a:off x="2907792" y="1234440"/>
            <a:ext cx="1325880" cy="804672"/>
          </a:xfrm>
          <a:prstGeom prst="roundRect">
            <a:avLst>
              <a:gd name="adj" fmla="val 9091"/>
            </a:avLst>
          </a:prstGeom>
          <a:solidFill>
            <a:srgbClr val="FFFFFF"/>
          </a:solidFill>
          <a:ln w="13970">
            <a:solidFill>
              <a:srgbClr val="D6E8F6"/>
            </a:solidFill>
            <a:prstDash val="solid"/>
          </a:ln>
        </p:spPr>
      </p:sp>
      <p:sp>
        <p:nvSpPr>
          <p:cNvPr id="9" name="Text 7"/>
          <p:cNvSpPr/>
          <p:nvPr/>
        </p:nvSpPr>
        <p:spPr>
          <a:xfrm>
            <a:off x="3044952" y="1344168"/>
            <a:ext cx="1051560" cy="164592"/>
          </a:xfrm>
          <a:prstGeom prst="rect">
            <a:avLst/>
          </a:prstGeom>
          <a:noFill/>
          <a:ln/>
        </p:spPr>
        <p:txBody>
          <a:bodyPr wrap="square" lIns="127" tIns="127" rIns="127" bIns="127" rtlCol="0" anchor="ctr"/>
          <a:lstStyle/>
          <a:p>
            <a:pPr indent="0" marL="0">
              <a:buNone/>
            </a:pPr>
            <a:r>
              <a:rPr lang="en-US" sz="800" b="1" dirty="0">
                <a:solidFill>
                  <a:srgbClr val="5E6B75"/>
                </a:solidFill>
              </a:rPr>
              <a:t>COLUMNS</a:t>
            </a:r>
            <a:endParaRPr lang="en-US" sz="800" dirty="0"/>
          </a:p>
        </p:txBody>
      </p:sp>
      <p:sp>
        <p:nvSpPr>
          <p:cNvPr id="10" name="Text 8"/>
          <p:cNvSpPr/>
          <p:nvPr/>
        </p:nvSpPr>
        <p:spPr>
          <a:xfrm>
            <a:off x="3044952" y="1545336"/>
            <a:ext cx="1051560" cy="256032"/>
          </a:xfrm>
          <a:prstGeom prst="rect">
            <a:avLst/>
          </a:prstGeom>
          <a:noFill/>
          <a:ln/>
        </p:spPr>
        <p:txBody>
          <a:bodyPr wrap="square" lIns="127" tIns="127" rIns="127" bIns="127" rtlCol="0" anchor="ctr">
            <a:normAutofit/>
          </a:bodyPr>
          <a:lstStyle/>
          <a:p>
            <a:pPr indent="0" marL="0">
              <a:buNone/>
            </a:pPr>
            <a:r>
              <a:rPr lang="en-US" sz="1700" b="1" dirty="0">
                <a:solidFill>
                  <a:srgbClr val="13A6A6"/>
                </a:solidFill>
              </a:rPr>
              <a:t>45</a:t>
            </a:r>
            <a:endParaRPr lang="en-US" sz="1700" dirty="0"/>
          </a:p>
        </p:txBody>
      </p:sp>
      <p:sp>
        <p:nvSpPr>
          <p:cNvPr id="11" name="Text 9"/>
          <p:cNvSpPr/>
          <p:nvPr/>
        </p:nvSpPr>
        <p:spPr>
          <a:xfrm>
            <a:off x="3044952" y="1837944"/>
            <a:ext cx="1051560" cy="128016"/>
          </a:xfrm>
          <a:prstGeom prst="rect">
            <a:avLst/>
          </a:prstGeom>
          <a:noFill/>
          <a:ln/>
        </p:spPr>
        <p:txBody>
          <a:bodyPr wrap="square" lIns="127" tIns="127" rIns="127" bIns="127" rtlCol="0" anchor="ctr">
            <a:normAutofit/>
          </a:bodyPr>
          <a:lstStyle/>
          <a:p>
            <a:pPr indent="0" marL="0">
              <a:buNone/>
            </a:pPr>
            <a:r>
              <a:rPr lang="en-US" sz="670" dirty="0">
                <a:solidFill>
                  <a:srgbClr val="5E6B75"/>
                </a:solidFill>
              </a:rPr>
              <a:t>engineered + retained</a:t>
            </a:r>
            <a:endParaRPr lang="en-US" sz="670" dirty="0"/>
          </a:p>
        </p:txBody>
      </p:sp>
      <p:sp>
        <p:nvSpPr>
          <p:cNvPr id="12" name="Shape 10"/>
          <p:cNvSpPr/>
          <p:nvPr/>
        </p:nvSpPr>
        <p:spPr>
          <a:xfrm>
            <a:off x="4434840" y="1234440"/>
            <a:ext cx="2148840" cy="804672"/>
          </a:xfrm>
          <a:prstGeom prst="roundRect">
            <a:avLst>
              <a:gd name="adj" fmla="val 9091"/>
            </a:avLst>
          </a:prstGeom>
          <a:solidFill>
            <a:srgbClr val="FFFFFF"/>
          </a:solidFill>
          <a:ln w="13970">
            <a:solidFill>
              <a:srgbClr val="D6E8F6"/>
            </a:solidFill>
            <a:prstDash val="solid"/>
          </a:ln>
        </p:spPr>
      </p:sp>
      <p:sp>
        <p:nvSpPr>
          <p:cNvPr id="13" name="Text 11"/>
          <p:cNvSpPr/>
          <p:nvPr/>
        </p:nvSpPr>
        <p:spPr>
          <a:xfrm>
            <a:off x="4572000" y="1344168"/>
            <a:ext cx="1874520" cy="164592"/>
          </a:xfrm>
          <a:prstGeom prst="rect">
            <a:avLst/>
          </a:prstGeom>
          <a:noFill/>
          <a:ln/>
        </p:spPr>
        <p:txBody>
          <a:bodyPr wrap="square" lIns="127" tIns="127" rIns="127" bIns="127" rtlCol="0" anchor="ctr"/>
          <a:lstStyle/>
          <a:p>
            <a:pPr indent="0" marL="0">
              <a:buNone/>
            </a:pPr>
            <a:r>
              <a:rPr lang="en-US" sz="800" b="1" dirty="0">
                <a:solidFill>
                  <a:srgbClr val="5E6B75"/>
                </a:solidFill>
              </a:rPr>
              <a:t>SPLITS</a:t>
            </a:r>
            <a:endParaRPr lang="en-US" sz="800" dirty="0"/>
          </a:p>
        </p:txBody>
      </p:sp>
      <p:sp>
        <p:nvSpPr>
          <p:cNvPr id="14" name="Text 12"/>
          <p:cNvSpPr/>
          <p:nvPr/>
        </p:nvSpPr>
        <p:spPr>
          <a:xfrm>
            <a:off x="4572000" y="1545336"/>
            <a:ext cx="1874520" cy="256032"/>
          </a:xfrm>
          <a:prstGeom prst="rect">
            <a:avLst/>
          </a:prstGeom>
          <a:noFill/>
          <a:ln/>
        </p:spPr>
        <p:txBody>
          <a:bodyPr wrap="square" lIns="127" tIns="127" rIns="127" bIns="127" rtlCol="0" anchor="ctr">
            <a:normAutofit/>
          </a:bodyPr>
          <a:lstStyle/>
          <a:p>
            <a:pPr indent="0" marL="0">
              <a:buNone/>
            </a:pPr>
            <a:r>
              <a:rPr lang="en-US" sz="1700" b="1" dirty="0">
                <a:solidFill>
                  <a:srgbClr val="C87B00"/>
                </a:solidFill>
              </a:rPr>
              <a:t>Train → Val → Test</a:t>
            </a:r>
            <a:endParaRPr lang="en-US" sz="1700" dirty="0"/>
          </a:p>
        </p:txBody>
      </p:sp>
      <p:sp>
        <p:nvSpPr>
          <p:cNvPr id="15" name="Text 13"/>
          <p:cNvSpPr/>
          <p:nvPr/>
        </p:nvSpPr>
        <p:spPr>
          <a:xfrm>
            <a:off x="4572000" y="1837944"/>
            <a:ext cx="1874520" cy="128016"/>
          </a:xfrm>
          <a:prstGeom prst="rect">
            <a:avLst/>
          </a:prstGeom>
          <a:noFill/>
          <a:ln/>
        </p:spPr>
        <p:txBody>
          <a:bodyPr wrap="square" lIns="127" tIns="127" rIns="127" bIns="127" rtlCol="0" anchor="ctr">
            <a:normAutofit/>
          </a:bodyPr>
          <a:lstStyle/>
          <a:p>
            <a:pPr indent="0" marL="0">
              <a:buNone/>
            </a:pPr>
            <a:r>
              <a:rPr lang="en-US" sz="670" dirty="0">
                <a:solidFill>
                  <a:srgbClr val="5E6B75"/>
                </a:solidFill>
              </a:rPr>
              <a:t>chronological, no shuffling</a:t>
            </a:r>
            <a:endParaRPr lang="en-US" sz="670" dirty="0"/>
          </a:p>
        </p:txBody>
      </p:sp>
      <p:sp>
        <p:nvSpPr>
          <p:cNvPr id="16" name="Shape 14"/>
          <p:cNvSpPr/>
          <p:nvPr/>
        </p:nvSpPr>
        <p:spPr>
          <a:xfrm>
            <a:off x="594360" y="2395728"/>
            <a:ext cx="5989320" cy="2148840"/>
          </a:xfrm>
          <a:prstGeom prst="roundRect">
            <a:avLst>
              <a:gd name="adj" fmla="val 4255"/>
            </a:avLst>
          </a:prstGeom>
          <a:solidFill>
            <a:srgbClr val="FFFFFF"/>
          </a:solidFill>
          <a:ln w="12700">
            <a:solidFill>
              <a:srgbClr val="CFE2F3"/>
            </a:solidFill>
            <a:prstDash val="solid"/>
          </a:ln>
        </p:spPr>
      </p:sp>
      <p:sp>
        <p:nvSpPr>
          <p:cNvPr id="17" name="Text 15"/>
          <p:cNvSpPr/>
          <p:nvPr/>
        </p:nvSpPr>
        <p:spPr>
          <a:xfrm>
            <a:off x="850392" y="2651760"/>
            <a:ext cx="5303520" cy="228600"/>
          </a:xfrm>
          <a:prstGeom prst="rect">
            <a:avLst/>
          </a:prstGeom>
          <a:noFill/>
          <a:ln/>
        </p:spPr>
        <p:txBody>
          <a:bodyPr wrap="square" lIns="254" tIns="254" rIns="254" bIns="254" rtlCol="0" anchor="ctr"/>
          <a:lstStyle/>
          <a:p>
            <a:pPr indent="0" marL="0">
              <a:buNone/>
            </a:pPr>
            <a:r>
              <a:rPr lang="en-US" sz="1400" b="1" dirty="0">
                <a:solidFill>
                  <a:srgbClr val="0B2C4D"/>
                </a:solidFill>
              </a:rPr>
              <a:t>Quality checks completed</a:t>
            </a:r>
            <a:endParaRPr lang="en-US" sz="1400" dirty="0"/>
          </a:p>
        </p:txBody>
      </p:sp>
      <p:sp>
        <p:nvSpPr>
          <p:cNvPr id="18" name="Shape 16"/>
          <p:cNvSpPr/>
          <p:nvPr/>
        </p:nvSpPr>
        <p:spPr>
          <a:xfrm>
            <a:off x="932688" y="3063240"/>
            <a:ext cx="109728" cy="109728"/>
          </a:xfrm>
          <a:prstGeom prst="ellipse">
            <a:avLst/>
          </a:prstGeom>
          <a:solidFill>
            <a:srgbClr val="13A6A6"/>
          </a:solidFill>
          <a:ln w="12700">
            <a:solidFill>
              <a:srgbClr val="13A6A6"/>
            </a:solidFill>
            <a:prstDash val="solid"/>
          </a:ln>
        </p:spPr>
      </p:sp>
      <p:sp>
        <p:nvSpPr>
          <p:cNvPr id="19" name="Text 17"/>
          <p:cNvSpPr/>
          <p:nvPr/>
        </p:nvSpPr>
        <p:spPr>
          <a:xfrm>
            <a:off x="1133856" y="3017520"/>
            <a:ext cx="4846320" cy="201168"/>
          </a:xfrm>
          <a:prstGeom prst="rect">
            <a:avLst/>
          </a:prstGeom>
          <a:noFill/>
          <a:ln/>
        </p:spPr>
        <p:txBody>
          <a:bodyPr wrap="square" lIns="127" tIns="127" rIns="127" bIns="127" rtlCol="0" anchor="ctr"/>
          <a:lstStyle/>
          <a:p>
            <a:pPr indent="0" marL="0">
              <a:buNone/>
            </a:pPr>
            <a:r>
              <a:rPr lang="en-US" sz="950" dirty="0">
                <a:solidFill>
                  <a:srgbClr val="192B3A"/>
                </a:solidFill>
              </a:rPr>
              <a:t>Negative base fares</a:t>
            </a:r>
            <a:endParaRPr lang="en-US" sz="950" dirty="0"/>
          </a:p>
        </p:txBody>
      </p:sp>
      <p:sp>
        <p:nvSpPr>
          <p:cNvPr id="20" name="Shape 18"/>
          <p:cNvSpPr/>
          <p:nvPr/>
        </p:nvSpPr>
        <p:spPr>
          <a:xfrm>
            <a:off x="932688" y="3337560"/>
            <a:ext cx="109728" cy="109728"/>
          </a:xfrm>
          <a:prstGeom prst="ellipse">
            <a:avLst/>
          </a:prstGeom>
          <a:solidFill>
            <a:srgbClr val="13A6A6"/>
          </a:solidFill>
          <a:ln w="12700">
            <a:solidFill>
              <a:srgbClr val="13A6A6"/>
            </a:solidFill>
            <a:prstDash val="solid"/>
          </a:ln>
        </p:spPr>
      </p:sp>
      <p:sp>
        <p:nvSpPr>
          <p:cNvPr id="21" name="Text 19"/>
          <p:cNvSpPr/>
          <p:nvPr/>
        </p:nvSpPr>
        <p:spPr>
          <a:xfrm>
            <a:off x="1133856" y="3291840"/>
            <a:ext cx="4846320" cy="201168"/>
          </a:xfrm>
          <a:prstGeom prst="rect">
            <a:avLst/>
          </a:prstGeom>
          <a:noFill/>
          <a:ln/>
        </p:spPr>
        <p:txBody>
          <a:bodyPr wrap="square" lIns="127" tIns="127" rIns="127" bIns="127" rtlCol="0" anchor="ctr"/>
          <a:lstStyle/>
          <a:p>
            <a:pPr indent="0" marL="0">
              <a:buNone/>
            </a:pPr>
            <a:r>
              <a:rPr lang="en-US" sz="950" dirty="0">
                <a:solidFill>
                  <a:srgbClr val="192B3A"/>
                </a:solidFill>
              </a:rPr>
              <a:t>Zero-distance trips with fare</a:t>
            </a:r>
            <a:endParaRPr lang="en-US" sz="950" dirty="0"/>
          </a:p>
        </p:txBody>
      </p:sp>
      <p:sp>
        <p:nvSpPr>
          <p:cNvPr id="22" name="Shape 20"/>
          <p:cNvSpPr/>
          <p:nvPr/>
        </p:nvSpPr>
        <p:spPr>
          <a:xfrm>
            <a:off x="932688" y="3611880"/>
            <a:ext cx="109728" cy="109728"/>
          </a:xfrm>
          <a:prstGeom prst="ellipse">
            <a:avLst/>
          </a:prstGeom>
          <a:solidFill>
            <a:srgbClr val="13A6A6"/>
          </a:solidFill>
          <a:ln w="12700">
            <a:solidFill>
              <a:srgbClr val="13A6A6"/>
            </a:solidFill>
            <a:prstDash val="solid"/>
          </a:ln>
        </p:spPr>
      </p:sp>
      <p:sp>
        <p:nvSpPr>
          <p:cNvPr id="23" name="Text 21"/>
          <p:cNvSpPr/>
          <p:nvPr/>
        </p:nvSpPr>
        <p:spPr>
          <a:xfrm>
            <a:off x="1133856" y="3566160"/>
            <a:ext cx="4846320" cy="201168"/>
          </a:xfrm>
          <a:prstGeom prst="rect">
            <a:avLst/>
          </a:prstGeom>
          <a:noFill/>
          <a:ln/>
        </p:spPr>
        <p:txBody>
          <a:bodyPr wrap="square" lIns="127" tIns="127" rIns="127" bIns="127" rtlCol="0" anchor="ctr"/>
          <a:lstStyle/>
          <a:p>
            <a:pPr indent="0" marL="0">
              <a:buNone/>
            </a:pPr>
            <a:r>
              <a:rPr lang="en-US" sz="950" dirty="0">
                <a:solidFill>
                  <a:srgbClr val="192B3A"/>
                </a:solidFill>
              </a:rPr>
              <a:t>Nonpositive durations</a:t>
            </a:r>
            <a:endParaRPr lang="en-US" sz="950" dirty="0"/>
          </a:p>
        </p:txBody>
      </p:sp>
      <p:sp>
        <p:nvSpPr>
          <p:cNvPr id="24" name="Shape 22"/>
          <p:cNvSpPr/>
          <p:nvPr/>
        </p:nvSpPr>
        <p:spPr>
          <a:xfrm>
            <a:off x="932688" y="3886200"/>
            <a:ext cx="109728" cy="109728"/>
          </a:xfrm>
          <a:prstGeom prst="ellipse">
            <a:avLst/>
          </a:prstGeom>
          <a:solidFill>
            <a:srgbClr val="13A6A6"/>
          </a:solidFill>
          <a:ln w="12700">
            <a:solidFill>
              <a:srgbClr val="13A6A6"/>
            </a:solidFill>
            <a:prstDash val="solid"/>
          </a:ln>
        </p:spPr>
      </p:sp>
      <p:sp>
        <p:nvSpPr>
          <p:cNvPr id="25" name="Text 23"/>
          <p:cNvSpPr/>
          <p:nvPr/>
        </p:nvSpPr>
        <p:spPr>
          <a:xfrm>
            <a:off x="1133856" y="3840480"/>
            <a:ext cx="4846320" cy="201168"/>
          </a:xfrm>
          <a:prstGeom prst="rect">
            <a:avLst/>
          </a:prstGeom>
          <a:noFill/>
          <a:ln/>
        </p:spPr>
        <p:txBody>
          <a:bodyPr wrap="square" lIns="127" tIns="127" rIns="127" bIns="127" rtlCol="0" anchor="ctr"/>
          <a:lstStyle/>
          <a:p>
            <a:pPr indent="0" marL="0">
              <a:buNone/>
            </a:pPr>
            <a:r>
              <a:rPr lang="en-US" sz="950" dirty="0">
                <a:solidFill>
                  <a:srgbClr val="192B3A"/>
                </a:solidFill>
              </a:rPr>
              <a:t>Unrealistic speeds</a:t>
            </a:r>
            <a:endParaRPr lang="en-US" sz="950" dirty="0"/>
          </a:p>
        </p:txBody>
      </p:sp>
      <p:sp>
        <p:nvSpPr>
          <p:cNvPr id="26" name="Shape 24"/>
          <p:cNvSpPr/>
          <p:nvPr/>
        </p:nvSpPr>
        <p:spPr>
          <a:xfrm>
            <a:off x="932688" y="4160520"/>
            <a:ext cx="109728" cy="109728"/>
          </a:xfrm>
          <a:prstGeom prst="ellipse">
            <a:avLst/>
          </a:prstGeom>
          <a:solidFill>
            <a:srgbClr val="13A6A6"/>
          </a:solidFill>
          <a:ln w="12700">
            <a:solidFill>
              <a:srgbClr val="13A6A6"/>
            </a:solidFill>
            <a:prstDash val="solid"/>
          </a:ln>
        </p:spPr>
      </p:sp>
      <p:sp>
        <p:nvSpPr>
          <p:cNvPr id="27" name="Text 25"/>
          <p:cNvSpPr/>
          <p:nvPr/>
        </p:nvSpPr>
        <p:spPr>
          <a:xfrm>
            <a:off x="1133856" y="4114800"/>
            <a:ext cx="4846320" cy="201168"/>
          </a:xfrm>
          <a:prstGeom prst="rect">
            <a:avLst/>
          </a:prstGeom>
          <a:noFill/>
          <a:ln/>
        </p:spPr>
        <p:txBody>
          <a:bodyPr wrap="square" lIns="127" tIns="127" rIns="127" bIns="127" rtlCol="0" anchor="ctr"/>
          <a:lstStyle/>
          <a:p>
            <a:pPr indent="0" marL="0">
              <a:buNone/>
            </a:pPr>
            <a:r>
              <a:rPr lang="en-US" sz="950" dirty="0">
                <a:solidFill>
                  <a:srgbClr val="192B3A"/>
                </a:solidFill>
              </a:rPr>
              <a:t>Historical timestamp anomalies</a:t>
            </a:r>
            <a:endParaRPr lang="en-US" sz="950" dirty="0"/>
          </a:p>
        </p:txBody>
      </p:sp>
      <p:sp>
        <p:nvSpPr>
          <p:cNvPr id="28" name="Shape 26"/>
          <p:cNvSpPr/>
          <p:nvPr/>
        </p:nvSpPr>
        <p:spPr>
          <a:xfrm>
            <a:off x="594360" y="4736592"/>
            <a:ext cx="5989320" cy="658368"/>
          </a:xfrm>
          <a:prstGeom prst="roundRect">
            <a:avLst>
              <a:gd name="adj" fmla="val 11111"/>
            </a:avLst>
          </a:prstGeom>
          <a:solidFill>
            <a:srgbClr val="DDF7F5"/>
          </a:solidFill>
          <a:ln w="12700">
            <a:solidFill>
              <a:srgbClr val="DDF7F5"/>
            </a:solidFill>
            <a:prstDash val="solid"/>
          </a:ln>
        </p:spPr>
      </p:sp>
      <p:sp>
        <p:nvSpPr>
          <p:cNvPr id="29" name="Text 27"/>
          <p:cNvSpPr/>
          <p:nvPr/>
        </p:nvSpPr>
        <p:spPr>
          <a:xfrm>
            <a:off x="868680" y="4919472"/>
            <a:ext cx="5349240" cy="228600"/>
          </a:xfrm>
          <a:prstGeom prst="rect">
            <a:avLst/>
          </a:prstGeom>
          <a:noFill/>
          <a:ln/>
        </p:spPr>
        <p:txBody>
          <a:bodyPr wrap="square" lIns="254" tIns="254" rIns="254" bIns="254" rtlCol="0" anchor="ctr">
            <a:normAutofit/>
          </a:bodyPr>
          <a:lstStyle/>
          <a:p>
            <a:pPr algn="ctr" indent="0" marL="0">
              <a:buNone/>
            </a:pPr>
            <a:r>
              <a:rPr lang="en-US" sz="1100" b="1" dirty="0">
                <a:solidFill>
                  <a:srgbClr val="0B2C4D"/>
                </a:solidFill>
              </a:rPr>
              <a:t>Leakage-safe design: only pre-trip information can be used as model input.</a:t>
            </a:r>
            <a:endParaRPr lang="en-US" sz="1100" dirty="0"/>
          </a:p>
        </p:txBody>
      </p:sp>
      <p:sp>
        <p:nvSpPr>
          <p:cNvPr id="30" name="Shape 28"/>
          <p:cNvSpPr/>
          <p:nvPr/>
        </p:nvSpPr>
        <p:spPr>
          <a:xfrm>
            <a:off x="6903720" y="1234440"/>
            <a:ext cx="4663440" cy="4160520"/>
          </a:xfrm>
          <a:prstGeom prst="roundRect">
            <a:avLst>
              <a:gd name="adj" fmla="val 2198"/>
            </a:avLst>
          </a:prstGeom>
          <a:solidFill>
            <a:srgbClr val="FFFFFF"/>
          </a:solidFill>
          <a:ln w="17780">
            <a:solidFill>
              <a:srgbClr val="2578D5"/>
            </a:solidFill>
            <a:prstDash val="solid"/>
          </a:ln>
        </p:spPr>
      </p:sp>
      <p:pic>
        <p:nvPicPr>
          <p:cNvPr id="44" name="notebook_methodology" descr="Source: reports/presentation_assets/notebook_methodology.png"/>
          <p:cNvPicPr>
            <a:picLocks noChangeAspect="1"/>
          </p:cNvPicPr>
          <p:nvPr/>
        </p:nvPicPr>
        <p:blipFill>
          <a:blip r:embed="rIdUfaAsset1"/>
          <a:stretch>
            <a:fillRect/>
          </a:stretch>
        </p:blipFill>
        <p:spPr>
          <a:xfrm>
            <a:off x="7201941" y="1307440"/>
            <a:ext cx="4066997" cy="4014520"/>
          </a:xfrm>
          <a:prstGeom prst="rect">
            <a:avLst/>
          </a:prstGeom>
        </p:spPr>
      </p:pic>
      <p:sp>
        <p:nvSpPr>
          <p:cNvPr id="34" name="Text 32"/>
          <p:cNvSpPr/>
          <p:nvPr/>
        </p:nvSpPr>
        <p:spPr>
          <a:xfrm>
            <a:off x="6400800" y="6601968"/>
            <a:ext cx="4572000" cy="164592"/>
          </a:xfrm>
          <a:prstGeom prst="rect">
            <a:avLst/>
          </a:prstGeom>
          <a:noFill/>
          <a:ln/>
        </p:spPr>
        <p:txBody>
          <a:bodyPr wrap="square" lIns="0" tIns="0" rIns="0" bIns="0" rtlCol="0" anchor="ctr"/>
          <a:lstStyle/>
          <a:p>
            <a:pPr algn="r" indent="0" marL="0">
              <a:buNone/>
            </a:pPr>
            <a:r>
              <a:rPr lang="en-US" sz="650" dirty="0">
                <a:solidFill>
                  <a:srgbClr val="5E6B75"/>
                </a:solidFill>
              </a:rPr>
              <a:t>0:25–0:50</a:t>
            </a:r>
            <a:endParaRPr lang="en-US" sz="650" dirty="0"/>
          </a:p>
        </p:txBody>
      </p:sp>
      <p:sp>
        <p:nvSpPr>
          <p:cNvPr id="35" name="Shape 33"/>
          <p:cNvSpPr/>
          <p:nvPr/>
        </p:nvSpPr>
        <p:spPr>
          <a:xfrm>
            <a:off x="566928" y="6263640"/>
            <a:ext cx="109728" cy="109728"/>
          </a:xfrm>
          <a:prstGeom prst="ellipse">
            <a:avLst/>
          </a:prstGeom>
          <a:solidFill>
            <a:srgbClr val="D5E6F2"/>
          </a:solidFill>
          <a:ln w="12700">
            <a:solidFill>
              <a:srgbClr val="D5E6F2"/>
            </a:solidFill>
            <a:prstDash val="solid"/>
          </a:ln>
        </p:spPr>
      </p:sp>
      <p:sp>
        <p:nvSpPr>
          <p:cNvPr id="36" name="Shape 34"/>
          <p:cNvSpPr/>
          <p:nvPr/>
        </p:nvSpPr>
        <p:spPr>
          <a:xfrm>
            <a:off x="1051560" y="6263640"/>
            <a:ext cx="109728" cy="109728"/>
          </a:xfrm>
          <a:prstGeom prst="ellipse">
            <a:avLst/>
          </a:prstGeom>
          <a:solidFill>
            <a:srgbClr val="13A6A6"/>
          </a:solidFill>
          <a:ln w="12700">
            <a:solidFill>
              <a:srgbClr val="13A6A6"/>
            </a:solidFill>
            <a:prstDash val="solid"/>
          </a:ln>
        </p:spPr>
      </p:sp>
      <p:sp>
        <p:nvSpPr>
          <p:cNvPr id="37" name="Shape 35"/>
          <p:cNvSpPr/>
          <p:nvPr/>
        </p:nvSpPr>
        <p:spPr>
          <a:xfrm>
            <a:off x="1536192" y="6263640"/>
            <a:ext cx="109728" cy="109728"/>
          </a:xfrm>
          <a:prstGeom prst="ellipse">
            <a:avLst/>
          </a:prstGeom>
          <a:solidFill>
            <a:srgbClr val="D5E6F2"/>
          </a:solidFill>
          <a:ln w="12700">
            <a:solidFill>
              <a:srgbClr val="D5E6F2"/>
            </a:solidFill>
            <a:prstDash val="solid"/>
          </a:ln>
        </p:spPr>
      </p:sp>
      <p:sp>
        <p:nvSpPr>
          <p:cNvPr id="38" name="Shape 36"/>
          <p:cNvSpPr/>
          <p:nvPr/>
        </p:nvSpPr>
        <p:spPr>
          <a:xfrm>
            <a:off x="2020824" y="6263640"/>
            <a:ext cx="109728" cy="109728"/>
          </a:xfrm>
          <a:prstGeom prst="ellipse">
            <a:avLst/>
          </a:prstGeom>
          <a:solidFill>
            <a:srgbClr val="D5E6F2"/>
          </a:solidFill>
          <a:ln w="12700">
            <a:solidFill>
              <a:srgbClr val="D5E6F2"/>
            </a:solidFill>
            <a:prstDash val="solid"/>
          </a:ln>
        </p:spPr>
      </p:sp>
      <p:sp>
        <p:nvSpPr>
          <p:cNvPr id="39" name="Shape 37"/>
          <p:cNvSpPr/>
          <p:nvPr/>
        </p:nvSpPr>
        <p:spPr>
          <a:xfrm>
            <a:off x="2505456" y="6263640"/>
            <a:ext cx="109728" cy="109728"/>
          </a:xfrm>
          <a:prstGeom prst="ellipse">
            <a:avLst/>
          </a:prstGeom>
          <a:solidFill>
            <a:srgbClr val="D5E6F2"/>
          </a:solidFill>
          <a:ln w="12700">
            <a:solidFill>
              <a:srgbClr val="D5E6F2"/>
            </a:solidFill>
            <a:prstDash val="solid"/>
          </a:ln>
        </p:spPr>
      </p:sp>
      <p:sp>
        <p:nvSpPr>
          <p:cNvPr id="40" name="Shape 38"/>
          <p:cNvSpPr/>
          <p:nvPr/>
        </p:nvSpPr>
        <p:spPr>
          <a:xfrm>
            <a:off x="2990088" y="6263640"/>
            <a:ext cx="109728" cy="109728"/>
          </a:xfrm>
          <a:prstGeom prst="ellipse">
            <a:avLst/>
          </a:prstGeom>
          <a:solidFill>
            <a:srgbClr val="D5E6F2"/>
          </a:solidFill>
          <a:ln w="12700">
            <a:solidFill>
              <a:srgbClr val="D5E6F2"/>
            </a:solidFill>
            <a:prstDash val="solid"/>
          </a:ln>
        </p:spPr>
      </p:sp>
      <p:sp>
        <p:nvSpPr>
          <p:cNvPr id="41" name="Shape 39"/>
          <p:cNvSpPr/>
          <p:nvPr/>
        </p:nvSpPr>
        <p:spPr>
          <a:xfrm>
            <a:off x="3474720" y="6263640"/>
            <a:ext cx="109728" cy="109728"/>
          </a:xfrm>
          <a:prstGeom prst="ellipse">
            <a:avLst/>
          </a:prstGeom>
          <a:solidFill>
            <a:srgbClr val="D5E6F2"/>
          </a:solidFill>
          <a:ln w="12700">
            <a:solidFill>
              <a:srgbClr val="D5E6F2"/>
            </a:solidFill>
            <a:prstDash val="solid"/>
          </a:ln>
        </p:spPr>
      </p:sp>
      <p:sp>
        <p:nvSpPr>
          <p:cNvPr id="42" name="Shape 40"/>
          <p:cNvSpPr/>
          <p:nvPr/>
        </p:nvSpPr>
        <p:spPr>
          <a:xfrm>
            <a:off x="3959352" y="6263640"/>
            <a:ext cx="109728" cy="109728"/>
          </a:xfrm>
          <a:prstGeom prst="ellipse">
            <a:avLst/>
          </a:prstGeom>
          <a:solidFill>
            <a:srgbClr val="D5E6F2"/>
          </a:solidFill>
          <a:ln w="12700">
            <a:solidFill>
              <a:srgbClr val="D5E6F2"/>
            </a:solidFill>
            <a:prstDash val="solid"/>
          </a:ln>
        </p:spPr>
      </p:sp>
      <p:sp>
        <p:nvSpPr>
          <p:cNvPr id="43" name="Shape 41"/>
          <p:cNvSpPr/>
          <p:nvPr/>
        </p:nvSpPr>
        <p:spPr>
          <a:xfrm>
            <a:off x="4443984" y="6263640"/>
            <a:ext cx="109728" cy="109728"/>
          </a:xfrm>
          <a:prstGeom prst="ellipse">
            <a:avLst/>
          </a:prstGeom>
          <a:solidFill>
            <a:srgbClr val="D5E6F2"/>
          </a:solidFill>
          <a:ln w="12700">
            <a:solidFill>
              <a:srgbClr val="D5E6F2"/>
            </a:solidFill>
            <a:prstDash val="solid"/>
          </a:ln>
        </p:spPr>
      </p:sp>
      <p:sp>
        <p:nvSpPr>
          <p:cNvPr id="25" name="Slide Number Placeholder 0"/>
          <p:cNvSpPr>
            <a:spLocks noGrp="1"/>
          </p:cNvSpPr>
          <p:nvPr>
            <p:ph type="sldNum" sz="quarter" idx="4294967295"/>
          </p:nvPr>
        </p:nvSpPr>
        <p:spPr>
          <a:xfrm>
            <a:off x="11228832" y="6565392"/>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B7B8B"/>
                </a:solidFill>
                <a:latin typeface="Aptos"/>
                <a:ea typeface="Aptos"/>
                <a:cs typeface="Aptos"/>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274320"/>
            <a:ext cx="7589520" cy="438912"/>
          </a:xfrm>
          <a:prstGeom prst="rect">
            <a:avLst/>
          </a:prstGeom>
          <a:noFill/>
          <a:ln/>
        </p:spPr>
        <p:txBody>
          <a:bodyPr wrap="square" lIns="254" tIns="254" rIns="254" bIns="254" rtlCol="0" anchor="ctr">
            <a:normAutofit/>
          </a:bodyPr>
          <a:lstStyle/>
          <a:p>
            <a:pPr indent="0" marL="0">
              <a:buNone/>
            </a:pPr>
            <a:r>
              <a:rPr lang="en-US" sz="2400" b="1" dirty="0">
                <a:solidFill>
                  <a:srgbClr val="0B2C4D"/>
                </a:solidFill>
                <a:latin typeface="Aptos Display" pitchFamily="34" charset="0"/>
                <a:ea typeface="Aptos Display" pitchFamily="34" charset="-122"/>
                <a:cs typeface="Aptos Display" pitchFamily="34" charset="-120"/>
              </a:rPr>
              <a:t>Fare Prediction</a:t>
            </a:r>
            <a:endParaRPr lang="en-US" sz="2400" dirty="0"/>
          </a:p>
        </p:txBody>
      </p:sp>
      <p:sp>
        <p:nvSpPr>
          <p:cNvPr id="3" name="Text 1"/>
          <p:cNvSpPr/>
          <p:nvPr/>
        </p:nvSpPr>
        <p:spPr>
          <a:xfrm>
            <a:off x="521208" y="749808"/>
            <a:ext cx="9875520" cy="228600"/>
          </a:xfrm>
          <a:prstGeom prst="rect">
            <a:avLst/>
          </a:prstGeom>
          <a:noFill/>
          <a:ln/>
        </p:spPr>
        <p:txBody>
          <a:bodyPr wrap="square" lIns="254" tIns="254" rIns="254" bIns="254" rtlCol="0" anchor="ctr"/>
          <a:lstStyle/>
          <a:p>
            <a:pPr indent="0" marL="0">
              <a:buNone/>
            </a:pPr>
            <a:r>
              <a:rPr lang="en-US" sz="1050" dirty="0">
                <a:solidFill>
                  <a:srgbClr val="5E6B75"/>
                </a:solidFill>
              </a:rPr>
              <a:t>Predicting base fare before trip departure</a:t>
            </a:r>
            <a:endParaRPr lang="en-US" sz="1050" dirty="0"/>
          </a:p>
        </p:txBody>
      </p:sp>
      <p:sp>
        <p:nvSpPr>
          <p:cNvPr id="4" name="Shape 2"/>
          <p:cNvSpPr/>
          <p:nvPr/>
        </p:nvSpPr>
        <p:spPr>
          <a:xfrm>
            <a:off x="594360" y="1143000"/>
            <a:ext cx="6812280" cy="4526280"/>
          </a:xfrm>
          <a:prstGeom prst="roundRect">
            <a:avLst>
              <a:gd name="adj" fmla="val 2020"/>
            </a:avLst>
          </a:prstGeom>
          <a:solidFill>
            <a:srgbClr val="FFFFFF"/>
          </a:solidFill>
          <a:ln w="17780">
            <a:solidFill>
              <a:srgbClr val="2578D5"/>
            </a:solidFill>
            <a:prstDash val="solid"/>
          </a:ln>
        </p:spPr>
      </p:sp>
      <p:pic>
        <p:nvPicPr>
          <p:cNvPr id="37" name="fare_predicted_vs_actual" descr="Source: reports/figures/fare_predicted_vs_actual.png"/>
          <p:cNvPicPr>
            <a:picLocks noChangeAspect="1"/>
          </p:cNvPicPr>
          <p:nvPr/>
        </p:nvPicPr>
        <p:blipFill>
          <a:blip r:embed="rIdUfaAsset1"/>
          <a:stretch>
            <a:fillRect/>
          </a:stretch>
        </p:blipFill>
        <p:spPr>
          <a:xfrm>
            <a:off x="1184605" y="1216000"/>
            <a:ext cx="5631789" cy="4380280"/>
          </a:xfrm>
          <a:prstGeom prst="rect">
            <a:avLst/>
          </a:prstGeom>
        </p:spPr>
      </p:pic>
      <p:sp>
        <p:nvSpPr>
          <p:cNvPr id="8" name="Shape 6"/>
          <p:cNvSpPr/>
          <p:nvPr/>
        </p:nvSpPr>
        <p:spPr>
          <a:xfrm>
            <a:off x="7726680" y="1143000"/>
            <a:ext cx="3749040" cy="4526280"/>
          </a:xfrm>
          <a:prstGeom prst="roundRect">
            <a:avLst>
              <a:gd name="adj" fmla="val 2927"/>
            </a:avLst>
          </a:prstGeom>
          <a:solidFill>
            <a:srgbClr val="FFFFFF"/>
          </a:solidFill>
          <a:ln w="12700">
            <a:solidFill>
              <a:srgbClr val="CFE2F3"/>
            </a:solidFill>
            <a:prstDash val="solid"/>
          </a:ln>
        </p:spPr>
      </p:sp>
      <p:sp>
        <p:nvSpPr>
          <p:cNvPr id="9" name="Shape 7"/>
          <p:cNvSpPr/>
          <p:nvPr/>
        </p:nvSpPr>
        <p:spPr>
          <a:xfrm>
            <a:off x="8001000" y="1417320"/>
            <a:ext cx="1463040" cy="274320"/>
          </a:xfrm>
          <a:prstGeom prst="roundRect">
            <a:avLst>
              <a:gd name="adj" fmla="val 16667"/>
            </a:avLst>
          </a:prstGeom>
          <a:solidFill>
            <a:srgbClr val="E9F4FF"/>
          </a:solidFill>
          <a:ln w="12700">
            <a:solidFill>
              <a:srgbClr val="E9F4FF"/>
            </a:solidFill>
            <a:prstDash val="solid"/>
          </a:ln>
        </p:spPr>
      </p:sp>
      <p:sp>
        <p:nvSpPr>
          <p:cNvPr id="10" name="Text 8"/>
          <p:cNvSpPr/>
          <p:nvPr/>
        </p:nvSpPr>
        <p:spPr>
          <a:xfrm>
            <a:off x="8046720" y="1472184"/>
            <a:ext cx="1371600" cy="137160"/>
          </a:xfrm>
          <a:prstGeom prst="rect">
            <a:avLst/>
          </a:prstGeom>
          <a:noFill/>
          <a:ln/>
        </p:spPr>
        <p:txBody>
          <a:bodyPr wrap="square" lIns="0" tIns="0" rIns="0" bIns="0" rtlCol="0" anchor="ctr"/>
          <a:lstStyle/>
          <a:p>
            <a:pPr algn="ctr" indent="0" marL="0">
              <a:buNone/>
            </a:pPr>
            <a:r>
              <a:rPr lang="en-US" sz="750" b="1" dirty="0">
                <a:solidFill>
                  <a:srgbClr val="2578D5"/>
                </a:solidFill>
              </a:rPr>
              <a:t>SELECTED MODEL</a:t>
            </a:r>
            <a:endParaRPr lang="en-US" sz="750" dirty="0"/>
          </a:p>
        </p:txBody>
      </p:sp>
      <p:sp>
        <p:nvSpPr>
          <p:cNvPr id="11" name="Text 9"/>
          <p:cNvSpPr/>
          <p:nvPr/>
        </p:nvSpPr>
        <p:spPr>
          <a:xfrm>
            <a:off x="8019288" y="1810512"/>
            <a:ext cx="3154680" cy="530352"/>
          </a:xfrm>
          <a:prstGeom prst="rect">
            <a:avLst/>
          </a:prstGeom>
          <a:noFill/>
          <a:ln/>
        </p:spPr>
        <p:txBody>
          <a:bodyPr wrap="square" lIns="254" tIns="254" rIns="254" bIns="254" rtlCol="0" anchor="ctr">
            <a:normAutofit/>
          </a:bodyPr>
          <a:lstStyle/>
          <a:p>
            <a:pPr indent="0" marL="0">
              <a:buNone/>
            </a:pPr>
            <a:r>
              <a:rPr lang="en-US" sz="1700" b="1" dirty="0">
                <a:solidFill>
                  <a:srgbClr val="0B2C4D"/>
                </a:solidFill>
              </a:rPr>
              <a:t>Linear Regression</a:t>
            </a:r>
            <a:endParaRPr lang="en-US" sz="1700" dirty="0"/>
          </a:p>
          <a:p>
            <a:pPr indent="0" marL="0">
              <a:buNone/>
            </a:pPr>
            <a:r>
              <a:rPr lang="en-US" sz="1700" b="1" dirty="0">
                <a:solidFill>
                  <a:srgbClr val="0B2C4D"/>
                </a:solidFill>
              </a:rPr>
              <a:t>Pipeline</a:t>
            </a:r>
            <a:endParaRPr lang="en-US" sz="1700" dirty="0"/>
          </a:p>
        </p:txBody>
      </p:sp>
      <p:sp>
        <p:nvSpPr>
          <p:cNvPr id="12" name="Text 10"/>
          <p:cNvSpPr/>
          <p:nvPr/>
        </p:nvSpPr>
        <p:spPr>
          <a:xfrm>
            <a:off x="8019288" y="2487168"/>
            <a:ext cx="3108960" cy="182880"/>
          </a:xfrm>
          <a:prstGeom prst="rect">
            <a:avLst/>
          </a:prstGeom>
          <a:noFill/>
          <a:ln/>
        </p:spPr>
        <p:txBody>
          <a:bodyPr wrap="square" lIns="254" tIns="254" rIns="254" bIns="254" rtlCol="0" anchor="ctr"/>
          <a:lstStyle/>
          <a:p>
            <a:pPr indent="0" marL="0">
              <a:buNone/>
            </a:pPr>
            <a:r>
              <a:rPr lang="en-US" sz="900" dirty="0">
                <a:solidFill>
                  <a:srgbClr val="5E6B75"/>
                </a:solidFill>
              </a:rPr>
              <a:t>Final chronological test performance</a:t>
            </a:r>
            <a:endParaRPr lang="en-US" sz="900" dirty="0"/>
          </a:p>
        </p:txBody>
      </p:sp>
      <p:sp>
        <p:nvSpPr>
          <p:cNvPr id="13" name="Shape 11"/>
          <p:cNvSpPr/>
          <p:nvPr/>
        </p:nvSpPr>
        <p:spPr>
          <a:xfrm>
            <a:off x="8001000" y="2788920"/>
            <a:ext cx="1536192" cy="804672"/>
          </a:xfrm>
          <a:prstGeom prst="roundRect">
            <a:avLst>
              <a:gd name="adj" fmla="val 9091"/>
            </a:avLst>
          </a:prstGeom>
          <a:solidFill>
            <a:srgbClr val="FFFFFF"/>
          </a:solidFill>
          <a:ln w="13970">
            <a:solidFill>
              <a:srgbClr val="D6E8F6"/>
            </a:solidFill>
            <a:prstDash val="solid"/>
          </a:ln>
        </p:spPr>
      </p:sp>
      <p:sp>
        <p:nvSpPr>
          <p:cNvPr id="14" name="Text 12"/>
          <p:cNvSpPr/>
          <p:nvPr/>
        </p:nvSpPr>
        <p:spPr>
          <a:xfrm>
            <a:off x="8138160" y="2898648"/>
            <a:ext cx="1261872" cy="164592"/>
          </a:xfrm>
          <a:prstGeom prst="rect">
            <a:avLst/>
          </a:prstGeom>
          <a:noFill/>
          <a:ln/>
        </p:spPr>
        <p:txBody>
          <a:bodyPr wrap="square" lIns="127" tIns="127" rIns="127" bIns="127" rtlCol="0" anchor="ctr"/>
          <a:lstStyle/>
          <a:p>
            <a:pPr indent="0" marL="0">
              <a:buNone/>
            </a:pPr>
            <a:r>
              <a:rPr lang="en-US" sz="800" b="1" dirty="0">
                <a:solidFill>
                  <a:srgbClr val="5E6B75"/>
                </a:solidFill>
              </a:rPr>
              <a:t>MAE</a:t>
            </a:r>
            <a:endParaRPr lang="en-US" sz="800" dirty="0"/>
          </a:p>
        </p:txBody>
      </p:sp>
      <p:sp>
        <p:nvSpPr>
          <p:cNvPr id="15" name="Text 13"/>
          <p:cNvSpPr/>
          <p:nvPr/>
        </p:nvSpPr>
        <p:spPr>
          <a:xfrm>
            <a:off x="8138160" y="3099816"/>
            <a:ext cx="1261872" cy="256032"/>
          </a:xfrm>
          <a:prstGeom prst="rect">
            <a:avLst/>
          </a:prstGeom>
          <a:noFill/>
          <a:ln/>
        </p:spPr>
        <p:txBody>
          <a:bodyPr wrap="square" lIns="127" tIns="127" rIns="127" bIns="127" rtlCol="0" anchor="ctr">
            <a:normAutofit/>
          </a:bodyPr>
          <a:lstStyle/>
          <a:p>
            <a:pPr indent="0" marL="0">
              <a:buNone/>
            </a:pPr>
            <a:r>
              <a:rPr lang="en-US" sz="1700" b="1" dirty="0">
                <a:solidFill>
                  <a:srgbClr val="13A6A6"/>
                </a:solidFill>
              </a:rPr>
              <a:t>5.571799</a:t>
            </a:r>
            <a:endParaRPr lang="en-US" sz="1700" dirty="0"/>
          </a:p>
        </p:txBody>
      </p:sp>
      <p:sp>
        <p:nvSpPr>
          <p:cNvPr id="16" name="Text 14"/>
          <p:cNvSpPr/>
          <p:nvPr/>
        </p:nvSpPr>
        <p:spPr>
          <a:xfrm>
            <a:off x="8138160" y="3392424"/>
            <a:ext cx="1261872" cy="128016"/>
          </a:xfrm>
          <a:prstGeom prst="rect">
            <a:avLst/>
          </a:prstGeom>
          <a:noFill/>
          <a:ln/>
        </p:spPr>
        <p:txBody>
          <a:bodyPr wrap="square" lIns="127" tIns="127" rIns="127" bIns="127" rtlCol="0" anchor="ctr">
            <a:normAutofit/>
          </a:bodyPr>
          <a:lstStyle/>
          <a:p>
            <a:pPr indent="0" marL="0">
              <a:buNone/>
            </a:pPr>
            <a:r>
              <a:rPr lang="en-US" sz="670" dirty="0">
                <a:solidFill>
                  <a:srgbClr val="5E6B75"/>
                </a:solidFill>
              </a:rPr>
              <a:t>fare units</a:t>
            </a:r>
            <a:endParaRPr lang="en-US" sz="670" dirty="0"/>
          </a:p>
        </p:txBody>
      </p:sp>
      <p:sp>
        <p:nvSpPr>
          <p:cNvPr id="17" name="Shape 15"/>
          <p:cNvSpPr/>
          <p:nvPr/>
        </p:nvSpPr>
        <p:spPr>
          <a:xfrm>
            <a:off x="9738360" y="2788920"/>
            <a:ext cx="1536192" cy="804672"/>
          </a:xfrm>
          <a:prstGeom prst="roundRect">
            <a:avLst>
              <a:gd name="adj" fmla="val 9091"/>
            </a:avLst>
          </a:prstGeom>
          <a:solidFill>
            <a:srgbClr val="FFFFFF"/>
          </a:solidFill>
          <a:ln w="13970">
            <a:solidFill>
              <a:srgbClr val="D6E8F6"/>
            </a:solidFill>
            <a:prstDash val="solid"/>
          </a:ln>
        </p:spPr>
      </p:sp>
      <p:sp>
        <p:nvSpPr>
          <p:cNvPr id="18" name="Text 16"/>
          <p:cNvSpPr/>
          <p:nvPr/>
        </p:nvSpPr>
        <p:spPr>
          <a:xfrm>
            <a:off x="9875520" y="2898648"/>
            <a:ext cx="1261872" cy="164592"/>
          </a:xfrm>
          <a:prstGeom prst="rect">
            <a:avLst/>
          </a:prstGeom>
          <a:noFill/>
          <a:ln/>
        </p:spPr>
        <p:txBody>
          <a:bodyPr wrap="square" lIns="127" tIns="127" rIns="127" bIns="127" rtlCol="0" anchor="ctr"/>
          <a:lstStyle/>
          <a:p>
            <a:pPr indent="0" marL="0">
              <a:buNone/>
            </a:pPr>
            <a:r>
              <a:rPr lang="en-US" sz="800" b="1" dirty="0">
                <a:solidFill>
                  <a:srgbClr val="5E6B75"/>
                </a:solidFill>
              </a:rPr>
              <a:t>RMSE</a:t>
            </a:r>
            <a:endParaRPr lang="en-US" sz="800" dirty="0"/>
          </a:p>
        </p:txBody>
      </p:sp>
      <p:sp>
        <p:nvSpPr>
          <p:cNvPr id="19" name="Text 17"/>
          <p:cNvSpPr/>
          <p:nvPr/>
        </p:nvSpPr>
        <p:spPr>
          <a:xfrm>
            <a:off x="9875520" y="3099816"/>
            <a:ext cx="1261872" cy="256032"/>
          </a:xfrm>
          <a:prstGeom prst="rect">
            <a:avLst/>
          </a:prstGeom>
          <a:noFill/>
          <a:ln/>
        </p:spPr>
        <p:txBody>
          <a:bodyPr wrap="square" lIns="127" tIns="127" rIns="127" bIns="127" rtlCol="0" anchor="ctr">
            <a:normAutofit/>
          </a:bodyPr>
          <a:lstStyle/>
          <a:p>
            <a:pPr indent="0" marL="0">
              <a:buNone/>
            </a:pPr>
            <a:r>
              <a:rPr lang="en-US" sz="1700" b="1" dirty="0">
                <a:solidFill>
                  <a:srgbClr val="FFB84D"/>
                </a:solidFill>
              </a:rPr>
              <a:t>10.324520</a:t>
            </a:r>
            <a:endParaRPr lang="en-US" sz="1700" dirty="0"/>
          </a:p>
        </p:txBody>
      </p:sp>
      <p:sp>
        <p:nvSpPr>
          <p:cNvPr id="20" name="Text 18"/>
          <p:cNvSpPr/>
          <p:nvPr/>
        </p:nvSpPr>
        <p:spPr>
          <a:xfrm>
            <a:off x="9875520" y="3392424"/>
            <a:ext cx="1261872" cy="128016"/>
          </a:xfrm>
          <a:prstGeom prst="rect">
            <a:avLst/>
          </a:prstGeom>
          <a:noFill/>
          <a:ln/>
        </p:spPr>
        <p:txBody>
          <a:bodyPr wrap="square" lIns="127" tIns="127" rIns="127" bIns="127" rtlCol="0" anchor="ctr">
            <a:normAutofit/>
          </a:bodyPr>
          <a:lstStyle/>
          <a:p>
            <a:pPr indent="0" marL="0">
              <a:buNone/>
            </a:pPr>
            <a:r>
              <a:rPr lang="en-US" sz="670" dirty="0">
                <a:solidFill>
                  <a:srgbClr val="5E6B75"/>
                </a:solidFill>
              </a:rPr>
              <a:t>large errors weighted</a:t>
            </a:r>
            <a:endParaRPr lang="en-US" sz="670" dirty="0"/>
          </a:p>
        </p:txBody>
      </p:sp>
      <p:sp>
        <p:nvSpPr>
          <p:cNvPr id="21" name="Shape 19"/>
          <p:cNvSpPr/>
          <p:nvPr/>
        </p:nvSpPr>
        <p:spPr>
          <a:xfrm>
            <a:off x="8869680" y="3794760"/>
            <a:ext cx="1536192" cy="804672"/>
          </a:xfrm>
          <a:prstGeom prst="roundRect">
            <a:avLst>
              <a:gd name="adj" fmla="val 9091"/>
            </a:avLst>
          </a:prstGeom>
          <a:solidFill>
            <a:srgbClr val="FFFFFF"/>
          </a:solidFill>
          <a:ln w="13970">
            <a:solidFill>
              <a:srgbClr val="D6E8F6"/>
            </a:solidFill>
            <a:prstDash val="solid"/>
          </a:ln>
        </p:spPr>
      </p:sp>
      <p:sp>
        <p:nvSpPr>
          <p:cNvPr id="22" name="Text 20"/>
          <p:cNvSpPr/>
          <p:nvPr/>
        </p:nvSpPr>
        <p:spPr>
          <a:xfrm>
            <a:off x="9006840" y="3904488"/>
            <a:ext cx="1261872" cy="164592"/>
          </a:xfrm>
          <a:prstGeom prst="rect">
            <a:avLst/>
          </a:prstGeom>
          <a:noFill/>
          <a:ln/>
        </p:spPr>
        <p:txBody>
          <a:bodyPr wrap="square" lIns="127" tIns="127" rIns="127" bIns="127" rtlCol="0" anchor="ctr"/>
          <a:lstStyle/>
          <a:p>
            <a:pPr indent="0" marL="0">
              <a:buNone/>
            </a:pPr>
            <a:r>
              <a:rPr lang="en-US" sz="800" b="1" dirty="0">
                <a:solidFill>
                  <a:srgbClr val="5E6B75"/>
                </a:solidFill>
              </a:rPr>
              <a:t>R²</a:t>
            </a:r>
            <a:endParaRPr lang="en-US" sz="800" dirty="0"/>
          </a:p>
        </p:txBody>
      </p:sp>
      <p:sp>
        <p:nvSpPr>
          <p:cNvPr id="23" name="Text 21"/>
          <p:cNvSpPr/>
          <p:nvPr/>
        </p:nvSpPr>
        <p:spPr>
          <a:xfrm>
            <a:off x="9006840" y="4105656"/>
            <a:ext cx="1261872" cy="256032"/>
          </a:xfrm>
          <a:prstGeom prst="rect">
            <a:avLst/>
          </a:prstGeom>
          <a:noFill/>
          <a:ln/>
        </p:spPr>
        <p:txBody>
          <a:bodyPr wrap="square" lIns="127" tIns="127" rIns="127" bIns="127" rtlCol="0" anchor="ctr">
            <a:normAutofit/>
          </a:bodyPr>
          <a:lstStyle/>
          <a:p>
            <a:pPr indent="0" marL="0">
              <a:buNone/>
            </a:pPr>
            <a:r>
              <a:rPr lang="en-US" sz="1700" b="1" dirty="0">
                <a:solidFill>
                  <a:srgbClr val="2578D5"/>
                </a:solidFill>
              </a:rPr>
              <a:t>0.676153</a:t>
            </a:r>
            <a:endParaRPr lang="en-US" sz="1700" dirty="0"/>
          </a:p>
        </p:txBody>
      </p:sp>
      <p:sp>
        <p:nvSpPr>
          <p:cNvPr id="24" name="Text 22"/>
          <p:cNvSpPr/>
          <p:nvPr/>
        </p:nvSpPr>
        <p:spPr>
          <a:xfrm>
            <a:off x="9006840" y="4398264"/>
            <a:ext cx="1261872" cy="128016"/>
          </a:xfrm>
          <a:prstGeom prst="rect">
            <a:avLst/>
          </a:prstGeom>
          <a:noFill/>
          <a:ln/>
        </p:spPr>
        <p:txBody>
          <a:bodyPr wrap="square" lIns="127" tIns="127" rIns="127" bIns="127" rtlCol="0" anchor="ctr">
            <a:normAutofit/>
          </a:bodyPr>
          <a:lstStyle/>
          <a:p>
            <a:pPr indent="0" marL="0">
              <a:buNone/>
            </a:pPr>
            <a:r>
              <a:rPr lang="en-US" sz="670" dirty="0">
                <a:solidFill>
                  <a:srgbClr val="5E6B75"/>
                </a:solidFill>
              </a:rPr>
              <a:t>variance explained</a:t>
            </a:r>
            <a:endParaRPr lang="en-US" sz="670" dirty="0"/>
          </a:p>
        </p:txBody>
      </p:sp>
      <p:sp>
        <p:nvSpPr>
          <p:cNvPr id="25" name="Shape 23"/>
          <p:cNvSpPr/>
          <p:nvPr/>
        </p:nvSpPr>
        <p:spPr>
          <a:xfrm>
            <a:off x="8001000" y="4828032"/>
            <a:ext cx="3154680" cy="502920"/>
          </a:xfrm>
          <a:prstGeom prst="roundRect">
            <a:avLst>
              <a:gd name="adj" fmla="val 10909"/>
            </a:avLst>
          </a:prstGeom>
          <a:solidFill>
            <a:srgbClr val="FFF2D9"/>
          </a:solidFill>
          <a:ln w="12700">
            <a:solidFill>
              <a:srgbClr val="FFF2D9"/>
            </a:solidFill>
            <a:prstDash val="solid"/>
          </a:ln>
        </p:spPr>
      </p:sp>
      <p:sp>
        <p:nvSpPr>
          <p:cNvPr id="26" name="Text 24"/>
          <p:cNvSpPr/>
          <p:nvPr/>
        </p:nvSpPr>
        <p:spPr>
          <a:xfrm>
            <a:off x="8165592" y="4965192"/>
            <a:ext cx="2834640" cy="164592"/>
          </a:xfrm>
          <a:prstGeom prst="rect">
            <a:avLst/>
          </a:prstGeom>
          <a:noFill/>
          <a:ln/>
        </p:spPr>
        <p:txBody>
          <a:bodyPr wrap="square" lIns="127" tIns="127" rIns="127" bIns="127" rtlCol="0" anchor="ctr">
            <a:normAutofit/>
          </a:bodyPr>
          <a:lstStyle/>
          <a:p>
            <a:pPr algn="ctr" indent="0" marL="0">
              <a:buNone/>
            </a:pPr>
            <a:r>
              <a:rPr lang="en-US" sz="780" b="1" dirty="0">
                <a:solidFill>
                  <a:srgbClr val="192B3A"/>
                </a:solidFill>
              </a:rPr>
              <a:t>Distance used only as a pre-trip route estimate.</a:t>
            </a:r>
            <a:endParaRPr lang="en-US" sz="780" dirty="0"/>
          </a:p>
        </p:txBody>
      </p:sp>
      <p:sp>
        <p:nvSpPr>
          <p:cNvPr id="27" name="Text 25"/>
          <p:cNvSpPr/>
          <p:nvPr/>
        </p:nvSpPr>
        <p:spPr>
          <a:xfrm>
            <a:off x="6400800" y="6601968"/>
            <a:ext cx="4572000" cy="164592"/>
          </a:xfrm>
          <a:prstGeom prst="rect">
            <a:avLst/>
          </a:prstGeom>
          <a:noFill/>
          <a:ln/>
        </p:spPr>
        <p:txBody>
          <a:bodyPr wrap="square" lIns="0" tIns="0" rIns="0" bIns="0" rtlCol="0" anchor="ctr"/>
          <a:lstStyle/>
          <a:p>
            <a:pPr algn="r" indent="0" marL="0">
              <a:buNone/>
            </a:pPr>
            <a:r>
              <a:rPr lang="en-US" sz="650" dirty="0">
                <a:solidFill>
                  <a:srgbClr val="5E6B75"/>
                </a:solidFill>
              </a:rPr>
              <a:t>0:50–1:20</a:t>
            </a:r>
            <a:endParaRPr lang="en-US" sz="650" dirty="0"/>
          </a:p>
        </p:txBody>
      </p:sp>
      <p:sp>
        <p:nvSpPr>
          <p:cNvPr id="28" name="Shape 26"/>
          <p:cNvSpPr/>
          <p:nvPr/>
        </p:nvSpPr>
        <p:spPr>
          <a:xfrm>
            <a:off x="566928" y="6263640"/>
            <a:ext cx="109728" cy="109728"/>
          </a:xfrm>
          <a:prstGeom prst="ellipse">
            <a:avLst/>
          </a:prstGeom>
          <a:solidFill>
            <a:srgbClr val="D5E6F2"/>
          </a:solidFill>
          <a:ln w="12700">
            <a:solidFill>
              <a:srgbClr val="D5E6F2"/>
            </a:solidFill>
            <a:prstDash val="solid"/>
          </a:ln>
        </p:spPr>
      </p:sp>
      <p:sp>
        <p:nvSpPr>
          <p:cNvPr id="29" name="Shape 27"/>
          <p:cNvSpPr/>
          <p:nvPr/>
        </p:nvSpPr>
        <p:spPr>
          <a:xfrm>
            <a:off x="1051560" y="6263640"/>
            <a:ext cx="109728" cy="109728"/>
          </a:xfrm>
          <a:prstGeom prst="ellipse">
            <a:avLst/>
          </a:prstGeom>
          <a:solidFill>
            <a:srgbClr val="D5E6F2"/>
          </a:solidFill>
          <a:ln w="12700">
            <a:solidFill>
              <a:srgbClr val="D5E6F2"/>
            </a:solidFill>
            <a:prstDash val="solid"/>
          </a:ln>
        </p:spPr>
      </p:sp>
      <p:sp>
        <p:nvSpPr>
          <p:cNvPr id="30" name="Shape 28"/>
          <p:cNvSpPr/>
          <p:nvPr/>
        </p:nvSpPr>
        <p:spPr>
          <a:xfrm>
            <a:off x="1536192" y="6263640"/>
            <a:ext cx="109728" cy="109728"/>
          </a:xfrm>
          <a:prstGeom prst="ellipse">
            <a:avLst/>
          </a:prstGeom>
          <a:solidFill>
            <a:srgbClr val="13A6A6"/>
          </a:solidFill>
          <a:ln w="12700">
            <a:solidFill>
              <a:srgbClr val="13A6A6"/>
            </a:solidFill>
            <a:prstDash val="solid"/>
          </a:ln>
        </p:spPr>
      </p:sp>
      <p:sp>
        <p:nvSpPr>
          <p:cNvPr id="31" name="Shape 29"/>
          <p:cNvSpPr/>
          <p:nvPr/>
        </p:nvSpPr>
        <p:spPr>
          <a:xfrm>
            <a:off x="2020824" y="6263640"/>
            <a:ext cx="109728" cy="109728"/>
          </a:xfrm>
          <a:prstGeom prst="ellipse">
            <a:avLst/>
          </a:prstGeom>
          <a:solidFill>
            <a:srgbClr val="D5E6F2"/>
          </a:solidFill>
          <a:ln w="12700">
            <a:solidFill>
              <a:srgbClr val="D5E6F2"/>
            </a:solidFill>
            <a:prstDash val="solid"/>
          </a:ln>
        </p:spPr>
      </p:sp>
      <p:sp>
        <p:nvSpPr>
          <p:cNvPr id="32" name="Shape 30"/>
          <p:cNvSpPr/>
          <p:nvPr/>
        </p:nvSpPr>
        <p:spPr>
          <a:xfrm>
            <a:off x="2505456" y="6263640"/>
            <a:ext cx="109728" cy="109728"/>
          </a:xfrm>
          <a:prstGeom prst="ellipse">
            <a:avLst/>
          </a:prstGeom>
          <a:solidFill>
            <a:srgbClr val="D5E6F2"/>
          </a:solidFill>
          <a:ln w="12700">
            <a:solidFill>
              <a:srgbClr val="D5E6F2"/>
            </a:solidFill>
            <a:prstDash val="solid"/>
          </a:ln>
        </p:spPr>
      </p:sp>
      <p:sp>
        <p:nvSpPr>
          <p:cNvPr id="33" name="Shape 31"/>
          <p:cNvSpPr/>
          <p:nvPr/>
        </p:nvSpPr>
        <p:spPr>
          <a:xfrm>
            <a:off x="2990088" y="6263640"/>
            <a:ext cx="109728" cy="109728"/>
          </a:xfrm>
          <a:prstGeom prst="ellipse">
            <a:avLst/>
          </a:prstGeom>
          <a:solidFill>
            <a:srgbClr val="D5E6F2"/>
          </a:solidFill>
          <a:ln w="12700">
            <a:solidFill>
              <a:srgbClr val="D5E6F2"/>
            </a:solidFill>
            <a:prstDash val="solid"/>
          </a:ln>
        </p:spPr>
      </p:sp>
      <p:sp>
        <p:nvSpPr>
          <p:cNvPr id="34" name="Shape 32"/>
          <p:cNvSpPr/>
          <p:nvPr/>
        </p:nvSpPr>
        <p:spPr>
          <a:xfrm>
            <a:off x="3474720" y="6263640"/>
            <a:ext cx="109728" cy="109728"/>
          </a:xfrm>
          <a:prstGeom prst="ellipse">
            <a:avLst/>
          </a:prstGeom>
          <a:solidFill>
            <a:srgbClr val="D5E6F2"/>
          </a:solidFill>
          <a:ln w="12700">
            <a:solidFill>
              <a:srgbClr val="D5E6F2"/>
            </a:solidFill>
            <a:prstDash val="solid"/>
          </a:ln>
        </p:spPr>
      </p:sp>
      <p:sp>
        <p:nvSpPr>
          <p:cNvPr id="35" name="Shape 33"/>
          <p:cNvSpPr/>
          <p:nvPr/>
        </p:nvSpPr>
        <p:spPr>
          <a:xfrm>
            <a:off x="3959352" y="6263640"/>
            <a:ext cx="109728" cy="109728"/>
          </a:xfrm>
          <a:prstGeom prst="ellipse">
            <a:avLst/>
          </a:prstGeom>
          <a:solidFill>
            <a:srgbClr val="D5E6F2"/>
          </a:solidFill>
          <a:ln w="12700">
            <a:solidFill>
              <a:srgbClr val="D5E6F2"/>
            </a:solidFill>
            <a:prstDash val="solid"/>
          </a:ln>
        </p:spPr>
      </p:sp>
      <p:sp>
        <p:nvSpPr>
          <p:cNvPr id="36" name="Shape 34"/>
          <p:cNvSpPr/>
          <p:nvPr/>
        </p:nvSpPr>
        <p:spPr>
          <a:xfrm>
            <a:off x="4443984" y="6263640"/>
            <a:ext cx="109728" cy="109728"/>
          </a:xfrm>
          <a:prstGeom prst="ellipse">
            <a:avLst/>
          </a:prstGeom>
          <a:solidFill>
            <a:srgbClr val="D5E6F2"/>
          </a:solidFill>
          <a:ln w="12700">
            <a:solidFill>
              <a:srgbClr val="D5E6F2"/>
            </a:solidFill>
            <a:prstDash val="solid"/>
          </a:ln>
        </p:spPr>
      </p:sp>
      <p:sp>
        <p:nvSpPr>
          <p:cNvPr id="25" name="Slide Number Placeholder 0"/>
          <p:cNvSpPr>
            <a:spLocks noGrp="1"/>
          </p:cNvSpPr>
          <p:nvPr>
            <p:ph type="sldNum" sz="quarter" idx="4294967295"/>
          </p:nvPr>
        </p:nvSpPr>
        <p:spPr>
          <a:xfrm>
            <a:off x="11228832" y="6565392"/>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B7B8B"/>
                </a:solidFill>
                <a:latin typeface="Aptos"/>
                <a:ea typeface="Aptos"/>
                <a:cs typeface="Aptos"/>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2920" y="274320"/>
            <a:ext cx="7589520" cy="438912"/>
          </a:xfrm>
          <a:prstGeom prst="rect">
            <a:avLst/>
          </a:prstGeom>
          <a:noFill/>
          <a:ln/>
        </p:spPr>
        <p:txBody>
          <a:bodyPr wrap="square" lIns="254" tIns="254" rIns="254" bIns="254" rtlCol="0" anchor="ctr">
            <a:normAutofit/>
          </a:bodyPr>
          <a:lstStyle/>
          <a:p>
            <a:pPr indent="0" marL="0">
              <a:buNone/>
            </a:pPr>
            <a:r>
              <a:rPr lang="en-US" sz="2400" b="1" dirty="0">
                <a:solidFill>
                  <a:srgbClr val="0B2C4D"/>
                </a:solidFill>
                <a:latin typeface="Aptos Display" pitchFamily="34" charset="0"/>
                <a:ea typeface="Aptos Display" pitchFamily="34" charset="-122"/>
                <a:cs typeface="Aptos Display" pitchFamily="34" charset="-120"/>
              </a:rPr>
              <a:t>Trip Duration Prediction</a:t>
            </a:r>
            <a:endParaRPr lang="en-US" sz="2400" dirty="0"/>
          </a:p>
        </p:txBody>
      </p:sp>
      <p:sp>
        <p:nvSpPr>
          <p:cNvPr id="3" name="Text 1"/>
          <p:cNvSpPr/>
          <p:nvPr/>
        </p:nvSpPr>
        <p:spPr>
          <a:xfrm>
            <a:off x="521208" y="749808"/>
            <a:ext cx="9875520" cy="228600"/>
          </a:xfrm>
          <a:prstGeom prst="rect">
            <a:avLst/>
          </a:prstGeom>
          <a:noFill/>
          <a:ln/>
        </p:spPr>
        <p:txBody>
          <a:bodyPr wrap="square" lIns="254" tIns="254" rIns="254" bIns="254" rtlCol="0" anchor="ctr"/>
          <a:lstStyle/>
          <a:p>
            <a:pPr indent="0" marL="0">
              <a:buNone/>
            </a:pPr>
            <a:r>
              <a:rPr lang="en-US" sz="1050" dirty="0">
                <a:solidFill>
                  <a:srgbClr val="5E6B75"/>
                </a:solidFill>
              </a:rPr>
              <a:t>Estimating travel time before departure</a:t>
            </a:r>
            <a:endParaRPr lang="en-US" sz="1050" dirty="0"/>
          </a:p>
        </p:txBody>
      </p:sp>
      <p:sp>
        <p:nvSpPr>
          <p:cNvPr id="4" name="Shape 2"/>
          <p:cNvSpPr/>
          <p:nvPr/>
        </p:nvSpPr>
        <p:spPr>
          <a:xfrm>
            <a:off x="594360" y="1143000"/>
            <a:ext cx="3749040" cy="4526280"/>
          </a:xfrm>
          <a:prstGeom prst="roundRect">
            <a:avLst>
              <a:gd name="adj" fmla="val 2927"/>
            </a:avLst>
          </a:prstGeom>
          <a:solidFill>
            <a:srgbClr val="FFFFFF"/>
          </a:solidFill>
          <a:ln w="12700">
            <a:solidFill>
              <a:srgbClr val="CFE2F3"/>
            </a:solidFill>
            <a:prstDash val="solid"/>
          </a:ln>
        </p:spPr>
      </p:sp>
      <p:sp>
        <p:nvSpPr>
          <p:cNvPr id="5" name="Shape 3"/>
          <p:cNvSpPr/>
          <p:nvPr/>
        </p:nvSpPr>
        <p:spPr>
          <a:xfrm>
            <a:off x="868680" y="1417320"/>
            <a:ext cx="1463040" cy="274320"/>
          </a:xfrm>
          <a:prstGeom prst="roundRect">
            <a:avLst>
              <a:gd name="adj" fmla="val 16667"/>
            </a:avLst>
          </a:prstGeom>
          <a:solidFill>
            <a:srgbClr val="DDF7F5"/>
          </a:solidFill>
          <a:ln w="12700">
            <a:solidFill>
              <a:srgbClr val="DDF7F5"/>
            </a:solidFill>
            <a:prstDash val="solid"/>
          </a:ln>
        </p:spPr>
      </p:sp>
      <p:sp>
        <p:nvSpPr>
          <p:cNvPr id="6" name="Text 4"/>
          <p:cNvSpPr/>
          <p:nvPr/>
        </p:nvSpPr>
        <p:spPr>
          <a:xfrm>
            <a:off x="914400" y="1472184"/>
            <a:ext cx="1371600" cy="137160"/>
          </a:xfrm>
          <a:prstGeom prst="rect">
            <a:avLst/>
          </a:prstGeom>
          <a:noFill/>
          <a:ln/>
        </p:spPr>
        <p:txBody>
          <a:bodyPr wrap="square" lIns="0" tIns="0" rIns="0" bIns="0" rtlCol="0" anchor="ctr"/>
          <a:lstStyle/>
          <a:p>
            <a:pPr algn="ctr" indent="0" marL="0">
              <a:buNone/>
            </a:pPr>
            <a:r>
              <a:rPr lang="en-US" sz="750" b="1" dirty="0">
                <a:solidFill>
                  <a:srgbClr val="13A6A6"/>
                </a:solidFill>
              </a:rPr>
              <a:t>SELECTED MODEL</a:t>
            </a:r>
            <a:endParaRPr lang="en-US" sz="750" dirty="0"/>
          </a:p>
        </p:txBody>
      </p:sp>
      <p:sp>
        <p:nvSpPr>
          <p:cNvPr id="7" name="Text 5"/>
          <p:cNvSpPr/>
          <p:nvPr/>
        </p:nvSpPr>
        <p:spPr>
          <a:xfrm>
            <a:off x="886968" y="1810512"/>
            <a:ext cx="3154680" cy="530352"/>
          </a:xfrm>
          <a:prstGeom prst="rect">
            <a:avLst/>
          </a:prstGeom>
          <a:noFill/>
          <a:ln/>
        </p:spPr>
        <p:txBody>
          <a:bodyPr wrap="square" lIns="254" tIns="254" rIns="254" bIns="254" rtlCol="0" anchor="ctr">
            <a:normAutofit/>
          </a:bodyPr>
          <a:lstStyle/>
          <a:p>
            <a:pPr indent="0" marL="0">
              <a:buNone/>
            </a:pPr>
            <a:r>
              <a:rPr lang="en-US" sz="1700" b="1" dirty="0">
                <a:solidFill>
                  <a:srgbClr val="0B2C4D"/>
                </a:solidFill>
              </a:rPr>
              <a:t>Linear Regression</a:t>
            </a:r>
            <a:endParaRPr lang="en-US" sz="1700" dirty="0"/>
          </a:p>
          <a:p>
            <a:pPr indent="0" marL="0">
              <a:buNone/>
            </a:pPr>
            <a:r>
              <a:rPr lang="en-US" sz="1700" b="1" dirty="0">
                <a:solidFill>
                  <a:srgbClr val="0B2C4D"/>
                </a:solidFill>
              </a:rPr>
              <a:t>Pipeline</a:t>
            </a:r>
            <a:endParaRPr lang="en-US" sz="1700" dirty="0"/>
          </a:p>
        </p:txBody>
      </p:sp>
      <p:sp>
        <p:nvSpPr>
          <p:cNvPr id="8" name="Text 6"/>
          <p:cNvSpPr/>
          <p:nvPr/>
        </p:nvSpPr>
        <p:spPr>
          <a:xfrm>
            <a:off x="886968" y="2487168"/>
            <a:ext cx="3108960" cy="182880"/>
          </a:xfrm>
          <a:prstGeom prst="rect">
            <a:avLst/>
          </a:prstGeom>
          <a:noFill/>
          <a:ln/>
        </p:spPr>
        <p:txBody>
          <a:bodyPr wrap="square" lIns="254" tIns="254" rIns="254" bIns="254" rtlCol="0" anchor="ctr"/>
          <a:lstStyle/>
          <a:p>
            <a:pPr indent="0" marL="0">
              <a:buNone/>
            </a:pPr>
            <a:r>
              <a:rPr lang="en-US" sz="900" dirty="0">
                <a:solidFill>
                  <a:srgbClr val="5E6B75"/>
                </a:solidFill>
              </a:rPr>
              <a:t>Final chronological test performance</a:t>
            </a:r>
            <a:endParaRPr lang="en-US" sz="900" dirty="0"/>
          </a:p>
        </p:txBody>
      </p:sp>
      <p:sp>
        <p:nvSpPr>
          <p:cNvPr id="9" name="Shape 7"/>
          <p:cNvSpPr/>
          <p:nvPr/>
        </p:nvSpPr>
        <p:spPr>
          <a:xfrm>
            <a:off x="868680" y="2788920"/>
            <a:ext cx="1536192" cy="804672"/>
          </a:xfrm>
          <a:prstGeom prst="roundRect">
            <a:avLst>
              <a:gd name="adj" fmla="val 9091"/>
            </a:avLst>
          </a:prstGeom>
          <a:solidFill>
            <a:srgbClr val="FFFFFF"/>
          </a:solidFill>
          <a:ln w="13970">
            <a:solidFill>
              <a:srgbClr val="D6E8F6"/>
            </a:solidFill>
            <a:prstDash val="solid"/>
          </a:ln>
        </p:spPr>
      </p:sp>
      <p:sp>
        <p:nvSpPr>
          <p:cNvPr id="10" name="Text 8"/>
          <p:cNvSpPr/>
          <p:nvPr/>
        </p:nvSpPr>
        <p:spPr>
          <a:xfrm>
            <a:off x="1005840" y="2898648"/>
            <a:ext cx="1261872" cy="164592"/>
          </a:xfrm>
          <a:prstGeom prst="rect">
            <a:avLst/>
          </a:prstGeom>
          <a:noFill/>
          <a:ln/>
        </p:spPr>
        <p:txBody>
          <a:bodyPr wrap="square" lIns="127" tIns="127" rIns="127" bIns="127" rtlCol="0" anchor="ctr"/>
          <a:lstStyle/>
          <a:p>
            <a:pPr indent="0" marL="0">
              <a:buNone/>
            </a:pPr>
            <a:r>
              <a:rPr lang="en-US" sz="800" b="1" dirty="0">
                <a:solidFill>
                  <a:srgbClr val="5E6B75"/>
                </a:solidFill>
              </a:rPr>
              <a:t>MAE</a:t>
            </a:r>
            <a:endParaRPr lang="en-US" sz="800" dirty="0"/>
          </a:p>
        </p:txBody>
      </p:sp>
      <p:sp>
        <p:nvSpPr>
          <p:cNvPr id="11" name="Text 9"/>
          <p:cNvSpPr/>
          <p:nvPr/>
        </p:nvSpPr>
        <p:spPr>
          <a:xfrm>
            <a:off x="1005840" y="3099816"/>
            <a:ext cx="1261872" cy="256032"/>
          </a:xfrm>
          <a:prstGeom prst="rect">
            <a:avLst/>
          </a:prstGeom>
          <a:noFill/>
          <a:ln/>
        </p:spPr>
        <p:txBody>
          <a:bodyPr wrap="square" lIns="127" tIns="127" rIns="127" bIns="127" rtlCol="0" anchor="ctr">
            <a:normAutofit/>
          </a:bodyPr>
          <a:lstStyle/>
          <a:p>
            <a:pPr indent="0" marL="0">
              <a:buNone/>
            </a:pPr>
            <a:r>
              <a:rPr lang="en-US" sz="1700" b="1" dirty="0">
                <a:solidFill>
                  <a:srgbClr val="13A6A6"/>
                </a:solidFill>
              </a:rPr>
              <a:t>5.802654</a:t>
            </a:r>
            <a:endParaRPr lang="en-US" sz="1700" dirty="0"/>
          </a:p>
        </p:txBody>
      </p:sp>
      <p:sp>
        <p:nvSpPr>
          <p:cNvPr id="12" name="Text 10"/>
          <p:cNvSpPr/>
          <p:nvPr/>
        </p:nvSpPr>
        <p:spPr>
          <a:xfrm>
            <a:off x="1005840" y="3392424"/>
            <a:ext cx="1261872" cy="128016"/>
          </a:xfrm>
          <a:prstGeom prst="rect">
            <a:avLst/>
          </a:prstGeom>
          <a:noFill/>
          <a:ln/>
        </p:spPr>
        <p:txBody>
          <a:bodyPr wrap="square" lIns="127" tIns="127" rIns="127" bIns="127" rtlCol="0" anchor="ctr">
            <a:normAutofit/>
          </a:bodyPr>
          <a:lstStyle/>
          <a:p>
            <a:pPr indent="0" marL="0">
              <a:buNone/>
            </a:pPr>
            <a:r>
              <a:rPr lang="en-US" sz="670" dirty="0">
                <a:solidFill>
                  <a:srgbClr val="5E6B75"/>
                </a:solidFill>
              </a:rPr>
              <a:t>minutes</a:t>
            </a:r>
            <a:endParaRPr lang="en-US" sz="670" dirty="0"/>
          </a:p>
        </p:txBody>
      </p:sp>
      <p:sp>
        <p:nvSpPr>
          <p:cNvPr id="13" name="Shape 11"/>
          <p:cNvSpPr/>
          <p:nvPr/>
        </p:nvSpPr>
        <p:spPr>
          <a:xfrm>
            <a:off x="2606040" y="2788920"/>
            <a:ext cx="1536192" cy="804672"/>
          </a:xfrm>
          <a:prstGeom prst="roundRect">
            <a:avLst>
              <a:gd name="adj" fmla="val 9091"/>
            </a:avLst>
          </a:prstGeom>
          <a:solidFill>
            <a:srgbClr val="FFFFFF"/>
          </a:solidFill>
          <a:ln w="13970">
            <a:solidFill>
              <a:srgbClr val="D6E8F6"/>
            </a:solidFill>
            <a:prstDash val="solid"/>
          </a:ln>
        </p:spPr>
      </p:sp>
      <p:sp>
        <p:nvSpPr>
          <p:cNvPr id="14" name="Text 12"/>
          <p:cNvSpPr/>
          <p:nvPr/>
        </p:nvSpPr>
        <p:spPr>
          <a:xfrm>
            <a:off x="2743200" y="2898648"/>
            <a:ext cx="1261872" cy="164592"/>
          </a:xfrm>
          <a:prstGeom prst="rect">
            <a:avLst/>
          </a:prstGeom>
          <a:noFill/>
          <a:ln/>
        </p:spPr>
        <p:txBody>
          <a:bodyPr wrap="square" lIns="127" tIns="127" rIns="127" bIns="127" rtlCol="0" anchor="ctr"/>
          <a:lstStyle/>
          <a:p>
            <a:pPr indent="0" marL="0">
              <a:buNone/>
            </a:pPr>
            <a:r>
              <a:rPr lang="en-US" sz="800" b="1" dirty="0">
                <a:solidFill>
                  <a:srgbClr val="5E6B75"/>
                </a:solidFill>
              </a:rPr>
              <a:t>RMSE</a:t>
            </a:r>
            <a:endParaRPr lang="en-US" sz="800" dirty="0"/>
          </a:p>
        </p:txBody>
      </p:sp>
      <p:sp>
        <p:nvSpPr>
          <p:cNvPr id="15" name="Text 13"/>
          <p:cNvSpPr/>
          <p:nvPr/>
        </p:nvSpPr>
        <p:spPr>
          <a:xfrm>
            <a:off x="2743200" y="3099816"/>
            <a:ext cx="1261872" cy="256032"/>
          </a:xfrm>
          <a:prstGeom prst="rect">
            <a:avLst/>
          </a:prstGeom>
          <a:noFill/>
          <a:ln/>
        </p:spPr>
        <p:txBody>
          <a:bodyPr wrap="square" lIns="127" tIns="127" rIns="127" bIns="127" rtlCol="0" anchor="ctr">
            <a:normAutofit/>
          </a:bodyPr>
          <a:lstStyle/>
          <a:p>
            <a:pPr indent="0" marL="0">
              <a:buNone/>
            </a:pPr>
            <a:r>
              <a:rPr lang="en-US" sz="1700" b="1" dirty="0">
                <a:solidFill>
                  <a:srgbClr val="FFB84D"/>
                </a:solidFill>
              </a:rPr>
              <a:t>22.259013</a:t>
            </a:r>
            <a:endParaRPr lang="en-US" sz="1700" dirty="0"/>
          </a:p>
        </p:txBody>
      </p:sp>
      <p:sp>
        <p:nvSpPr>
          <p:cNvPr id="16" name="Text 14"/>
          <p:cNvSpPr/>
          <p:nvPr/>
        </p:nvSpPr>
        <p:spPr>
          <a:xfrm>
            <a:off x="2743200" y="3392424"/>
            <a:ext cx="1261872" cy="128016"/>
          </a:xfrm>
          <a:prstGeom prst="rect">
            <a:avLst/>
          </a:prstGeom>
          <a:noFill/>
          <a:ln/>
        </p:spPr>
        <p:txBody>
          <a:bodyPr wrap="square" lIns="127" tIns="127" rIns="127" bIns="127" rtlCol="0" anchor="ctr">
            <a:normAutofit/>
          </a:bodyPr>
          <a:lstStyle/>
          <a:p>
            <a:pPr indent="0" marL="0">
              <a:buNone/>
            </a:pPr>
            <a:r>
              <a:rPr lang="en-US" sz="670" dirty="0">
                <a:solidFill>
                  <a:srgbClr val="5E6B75"/>
                </a:solidFill>
              </a:rPr>
              <a:t>tail-sensitive</a:t>
            </a:r>
            <a:endParaRPr lang="en-US" sz="670" dirty="0"/>
          </a:p>
        </p:txBody>
      </p:sp>
      <p:sp>
        <p:nvSpPr>
          <p:cNvPr id="17" name="Shape 15"/>
          <p:cNvSpPr/>
          <p:nvPr/>
        </p:nvSpPr>
        <p:spPr>
          <a:xfrm>
            <a:off x="1737360" y="3794760"/>
            <a:ext cx="1536192" cy="804672"/>
          </a:xfrm>
          <a:prstGeom prst="roundRect">
            <a:avLst>
              <a:gd name="adj" fmla="val 9091"/>
            </a:avLst>
          </a:prstGeom>
          <a:solidFill>
            <a:srgbClr val="FFFFFF"/>
          </a:solidFill>
          <a:ln w="13970">
            <a:solidFill>
              <a:srgbClr val="D6E8F6"/>
            </a:solidFill>
            <a:prstDash val="solid"/>
          </a:ln>
        </p:spPr>
      </p:sp>
      <p:sp>
        <p:nvSpPr>
          <p:cNvPr id="18" name="Text 16"/>
          <p:cNvSpPr/>
          <p:nvPr/>
        </p:nvSpPr>
        <p:spPr>
          <a:xfrm>
            <a:off x="1874520" y="3904488"/>
            <a:ext cx="1261872" cy="164592"/>
          </a:xfrm>
          <a:prstGeom prst="rect">
            <a:avLst/>
          </a:prstGeom>
          <a:noFill/>
          <a:ln/>
        </p:spPr>
        <p:txBody>
          <a:bodyPr wrap="square" lIns="127" tIns="127" rIns="127" bIns="127" rtlCol="0" anchor="ctr"/>
          <a:lstStyle/>
          <a:p>
            <a:pPr indent="0" marL="0">
              <a:buNone/>
            </a:pPr>
            <a:r>
              <a:rPr lang="en-US" sz="800" b="1" dirty="0">
                <a:solidFill>
                  <a:srgbClr val="5E6B75"/>
                </a:solidFill>
              </a:rPr>
              <a:t>R²</a:t>
            </a:r>
            <a:endParaRPr lang="en-US" sz="800" dirty="0"/>
          </a:p>
        </p:txBody>
      </p:sp>
      <p:sp>
        <p:nvSpPr>
          <p:cNvPr id="19" name="Text 17"/>
          <p:cNvSpPr/>
          <p:nvPr/>
        </p:nvSpPr>
        <p:spPr>
          <a:xfrm>
            <a:off x="1874520" y="4105656"/>
            <a:ext cx="1261872" cy="256032"/>
          </a:xfrm>
          <a:prstGeom prst="rect">
            <a:avLst/>
          </a:prstGeom>
          <a:noFill/>
          <a:ln/>
        </p:spPr>
        <p:txBody>
          <a:bodyPr wrap="square" lIns="127" tIns="127" rIns="127" bIns="127" rtlCol="0" anchor="ctr">
            <a:normAutofit/>
          </a:bodyPr>
          <a:lstStyle/>
          <a:p>
            <a:pPr indent="0" marL="0">
              <a:buNone/>
            </a:pPr>
            <a:r>
              <a:rPr lang="en-US" sz="1700" b="1" dirty="0">
                <a:solidFill>
                  <a:srgbClr val="2578D5"/>
                </a:solidFill>
              </a:rPr>
              <a:t>0.206474</a:t>
            </a:r>
            <a:endParaRPr lang="en-US" sz="1700" dirty="0"/>
          </a:p>
        </p:txBody>
      </p:sp>
      <p:sp>
        <p:nvSpPr>
          <p:cNvPr id="20" name="Text 18"/>
          <p:cNvSpPr/>
          <p:nvPr/>
        </p:nvSpPr>
        <p:spPr>
          <a:xfrm>
            <a:off x="1874520" y="4398264"/>
            <a:ext cx="1261872" cy="128016"/>
          </a:xfrm>
          <a:prstGeom prst="rect">
            <a:avLst/>
          </a:prstGeom>
          <a:noFill/>
          <a:ln/>
        </p:spPr>
        <p:txBody>
          <a:bodyPr wrap="square" lIns="127" tIns="127" rIns="127" bIns="127" rtlCol="0" anchor="ctr">
            <a:normAutofit/>
          </a:bodyPr>
          <a:lstStyle/>
          <a:p>
            <a:pPr indent="0" marL="0">
              <a:buNone/>
            </a:pPr>
            <a:r>
              <a:rPr lang="en-US" sz="670" dirty="0">
                <a:solidFill>
                  <a:srgbClr val="5E6B75"/>
                </a:solidFill>
              </a:rPr>
              <a:t>modest fit</a:t>
            </a:r>
            <a:endParaRPr lang="en-US" sz="670" dirty="0"/>
          </a:p>
        </p:txBody>
      </p:sp>
      <p:sp>
        <p:nvSpPr>
          <p:cNvPr id="21" name="Text 19"/>
          <p:cNvSpPr/>
          <p:nvPr/>
        </p:nvSpPr>
        <p:spPr>
          <a:xfrm>
            <a:off x="868680" y="4773168"/>
            <a:ext cx="3291840" cy="182880"/>
          </a:xfrm>
          <a:prstGeom prst="rect">
            <a:avLst/>
          </a:prstGeom>
          <a:noFill/>
          <a:ln/>
        </p:spPr>
        <p:txBody>
          <a:bodyPr wrap="square" lIns="254" tIns="254" rIns="254" bIns="254" rtlCol="0" anchor="ctr"/>
          <a:lstStyle/>
          <a:p>
            <a:pPr indent="0" marL="0">
              <a:buNone/>
            </a:pPr>
            <a:r>
              <a:rPr lang="en-US" sz="950" b="1" dirty="0">
                <a:solidFill>
                  <a:srgbClr val="0B2C4D"/>
                </a:solidFill>
              </a:rPr>
              <a:t>Main limitations</a:t>
            </a:r>
            <a:endParaRPr lang="en-US" sz="950" dirty="0"/>
          </a:p>
        </p:txBody>
      </p:sp>
      <p:sp>
        <p:nvSpPr>
          <p:cNvPr id="22" name="Text 20"/>
          <p:cNvSpPr/>
          <p:nvPr/>
        </p:nvSpPr>
        <p:spPr>
          <a:xfrm>
            <a:off x="868680" y="5020056"/>
            <a:ext cx="3246120" cy="182880"/>
          </a:xfrm>
          <a:prstGeom prst="rect">
            <a:avLst/>
          </a:prstGeom>
          <a:noFill/>
          <a:ln/>
        </p:spPr>
        <p:txBody>
          <a:bodyPr wrap="square" lIns="127" tIns="127" rIns="127" bIns="127" rtlCol="0" anchor="ctr">
            <a:normAutofit/>
          </a:bodyPr>
          <a:lstStyle/>
          <a:p>
            <a:pPr indent="0" marL="0">
              <a:buNone/>
            </a:pPr>
            <a:r>
              <a:rPr lang="en-US" sz="750" dirty="0">
                <a:solidFill>
                  <a:srgbClr val="5E6B75"/>
                </a:solidFill>
              </a:rPr>
              <a:t>Long trips • No live traffic • No weather/incidents</a:t>
            </a:r>
            <a:endParaRPr lang="en-US" sz="750" dirty="0"/>
          </a:p>
        </p:txBody>
      </p:sp>
      <p:sp>
        <p:nvSpPr>
          <p:cNvPr id="23" name="Shape 21"/>
          <p:cNvSpPr/>
          <p:nvPr/>
        </p:nvSpPr>
        <p:spPr>
          <a:xfrm>
            <a:off x="4617720" y="1143000"/>
            <a:ext cx="6903720" cy="4526280"/>
          </a:xfrm>
          <a:prstGeom prst="roundRect">
            <a:avLst>
              <a:gd name="adj" fmla="val 2020"/>
            </a:avLst>
          </a:prstGeom>
          <a:solidFill>
            <a:srgbClr val="FFFFFF"/>
          </a:solidFill>
          <a:ln w="17780">
            <a:solidFill>
              <a:srgbClr val="13A6A6"/>
            </a:solidFill>
            <a:prstDash val="solid"/>
          </a:ln>
        </p:spPr>
      </p:sp>
      <p:pic>
        <p:nvPicPr>
          <p:cNvPr id="37" name="duration_mae_by_distance_bucket" descr="Source: reports/figures/duration_mae_by_distance_bucket.png"/>
          <p:cNvPicPr>
            <a:picLocks noChangeAspect="1"/>
          </p:cNvPicPr>
          <p:nvPr/>
        </p:nvPicPr>
        <p:blipFill>
          <a:blip r:embed="rIdUfaAsset1"/>
          <a:stretch>
            <a:fillRect/>
          </a:stretch>
        </p:blipFill>
        <p:spPr>
          <a:xfrm>
            <a:off x="4690720" y="1547767"/>
            <a:ext cx="6757720" cy="3716746"/>
          </a:xfrm>
          <a:prstGeom prst="rect">
            <a:avLst/>
          </a:prstGeom>
        </p:spPr>
      </p:pic>
      <p:sp>
        <p:nvSpPr>
          <p:cNvPr id="27" name="Text 25"/>
          <p:cNvSpPr/>
          <p:nvPr/>
        </p:nvSpPr>
        <p:spPr>
          <a:xfrm>
            <a:off x="6400800" y="6601968"/>
            <a:ext cx="4572000" cy="164592"/>
          </a:xfrm>
          <a:prstGeom prst="rect">
            <a:avLst/>
          </a:prstGeom>
          <a:noFill/>
          <a:ln/>
        </p:spPr>
        <p:txBody>
          <a:bodyPr wrap="square" lIns="0" tIns="0" rIns="0" bIns="0" rtlCol="0" anchor="ctr"/>
          <a:lstStyle/>
          <a:p>
            <a:pPr algn="r" indent="0" marL="0">
              <a:buNone/>
            </a:pPr>
            <a:r>
              <a:rPr lang="en-US" sz="650" dirty="0">
                <a:solidFill>
                  <a:srgbClr val="5E6B75"/>
                </a:solidFill>
              </a:rPr>
              <a:t>1:20–1:50</a:t>
            </a:r>
            <a:endParaRPr lang="en-US" sz="650" dirty="0"/>
          </a:p>
        </p:txBody>
      </p:sp>
      <p:sp>
        <p:nvSpPr>
          <p:cNvPr id="28" name="Shape 26"/>
          <p:cNvSpPr/>
          <p:nvPr/>
        </p:nvSpPr>
        <p:spPr>
          <a:xfrm>
            <a:off x="566928" y="6263640"/>
            <a:ext cx="109728" cy="109728"/>
          </a:xfrm>
          <a:prstGeom prst="ellipse">
            <a:avLst/>
          </a:prstGeom>
          <a:solidFill>
            <a:srgbClr val="D5E6F2"/>
          </a:solidFill>
          <a:ln w="12700">
            <a:solidFill>
              <a:srgbClr val="D5E6F2"/>
            </a:solidFill>
            <a:prstDash val="solid"/>
          </a:ln>
        </p:spPr>
      </p:sp>
      <p:sp>
        <p:nvSpPr>
          <p:cNvPr id="29" name="Shape 27"/>
          <p:cNvSpPr/>
          <p:nvPr/>
        </p:nvSpPr>
        <p:spPr>
          <a:xfrm>
            <a:off x="1051560" y="6263640"/>
            <a:ext cx="109728" cy="109728"/>
          </a:xfrm>
          <a:prstGeom prst="ellipse">
            <a:avLst/>
          </a:prstGeom>
          <a:solidFill>
            <a:srgbClr val="D5E6F2"/>
          </a:solidFill>
          <a:ln w="12700">
            <a:solidFill>
              <a:srgbClr val="D5E6F2"/>
            </a:solidFill>
            <a:prstDash val="solid"/>
          </a:ln>
        </p:spPr>
      </p:sp>
      <p:sp>
        <p:nvSpPr>
          <p:cNvPr id="30" name="Shape 28"/>
          <p:cNvSpPr/>
          <p:nvPr/>
        </p:nvSpPr>
        <p:spPr>
          <a:xfrm>
            <a:off x="1536192" y="6263640"/>
            <a:ext cx="109728" cy="109728"/>
          </a:xfrm>
          <a:prstGeom prst="ellipse">
            <a:avLst/>
          </a:prstGeom>
          <a:solidFill>
            <a:srgbClr val="D5E6F2"/>
          </a:solidFill>
          <a:ln w="12700">
            <a:solidFill>
              <a:srgbClr val="D5E6F2"/>
            </a:solidFill>
            <a:prstDash val="solid"/>
          </a:ln>
        </p:spPr>
      </p:sp>
      <p:sp>
        <p:nvSpPr>
          <p:cNvPr id="31" name="Shape 29"/>
          <p:cNvSpPr/>
          <p:nvPr/>
        </p:nvSpPr>
        <p:spPr>
          <a:xfrm>
            <a:off x="2020824" y="6263640"/>
            <a:ext cx="109728" cy="109728"/>
          </a:xfrm>
          <a:prstGeom prst="ellipse">
            <a:avLst/>
          </a:prstGeom>
          <a:solidFill>
            <a:srgbClr val="13A6A6"/>
          </a:solidFill>
          <a:ln w="12700">
            <a:solidFill>
              <a:srgbClr val="13A6A6"/>
            </a:solidFill>
            <a:prstDash val="solid"/>
          </a:ln>
        </p:spPr>
      </p:sp>
      <p:sp>
        <p:nvSpPr>
          <p:cNvPr id="32" name="Shape 30"/>
          <p:cNvSpPr/>
          <p:nvPr/>
        </p:nvSpPr>
        <p:spPr>
          <a:xfrm>
            <a:off x="2505456" y="6263640"/>
            <a:ext cx="109728" cy="109728"/>
          </a:xfrm>
          <a:prstGeom prst="ellipse">
            <a:avLst/>
          </a:prstGeom>
          <a:solidFill>
            <a:srgbClr val="D5E6F2"/>
          </a:solidFill>
          <a:ln w="12700">
            <a:solidFill>
              <a:srgbClr val="D5E6F2"/>
            </a:solidFill>
            <a:prstDash val="solid"/>
          </a:ln>
        </p:spPr>
      </p:sp>
      <p:sp>
        <p:nvSpPr>
          <p:cNvPr id="33" name="Shape 31"/>
          <p:cNvSpPr/>
          <p:nvPr/>
        </p:nvSpPr>
        <p:spPr>
          <a:xfrm>
            <a:off x="2990088" y="6263640"/>
            <a:ext cx="109728" cy="109728"/>
          </a:xfrm>
          <a:prstGeom prst="ellipse">
            <a:avLst/>
          </a:prstGeom>
          <a:solidFill>
            <a:srgbClr val="D5E6F2"/>
          </a:solidFill>
          <a:ln w="12700">
            <a:solidFill>
              <a:srgbClr val="D5E6F2"/>
            </a:solidFill>
            <a:prstDash val="solid"/>
          </a:ln>
        </p:spPr>
      </p:sp>
      <p:sp>
        <p:nvSpPr>
          <p:cNvPr id="34" name="Shape 32"/>
          <p:cNvSpPr/>
          <p:nvPr/>
        </p:nvSpPr>
        <p:spPr>
          <a:xfrm>
            <a:off x="3474720" y="6263640"/>
            <a:ext cx="109728" cy="109728"/>
          </a:xfrm>
          <a:prstGeom prst="ellipse">
            <a:avLst/>
          </a:prstGeom>
          <a:solidFill>
            <a:srgbClr val="D5E6F2"/>
          </a:solidFill>
          <a:ln w="12700">
            <a:solidFill>
              <a:srgbClr val="D5E6F2"/>
            </a:solidFill>
            <a:prstDash val="solid"/>
          </a:ln>
        </p:spPr>
      </p:sp>
      <p:sp>
        <p:nvSpPr>
          <p:cNvPr id="35" name="Shape 33"/>
          <p:cNvSpPr/>
          <p:nvPr/>
        </p:nvSpPr>
        <p:spPr>
          <a:xfrm>
            <a:off x="3959352" y="6263640"/>
            <a:ext cx="109728" cy="109728"/>
          </a:xfrm>
          <a:prstGeom prst="ellipse">
            <a:avLst/>
          </a:prstGeom>
          <a:solidFill>
            <a:srgbClr val="D5E6F2"/>
          </a:solidFill>
          <a:ln w="12700">
            <a:solidFill>
              <a:srgbClr val="D5E6F2"/>
            </a:solidFill>
            <a:prstDash val="solid"/>
          </a:ln>
        </p:spPr>
      </p:sp>
      <p:sp>
        <p:nvSpPr>
          <p:cNvPr id="36" name="Shape 34"/>
          <p:cNvSpPr/>
          <p:nvPr/>
        </p:nvSpPr>
        <p:spPr>
          <a:xfrm>
            <a:off x="4443984" y="6263640"/>
            <a:ext cx="109728" cy="109728"/>
          </a:xfrm>
          <a:prstGeom prst="ellipse">
            <a:avLst/>
          </a:prstGeom>
          <a:solidFill>
            <a:srgbClr val="D5E6F2"/>
          </a:solidFill>
          <a:ln w="12700">
            <a:solidFill>
              <a:srgbClr val="D5E6F2"/>
            </a:solidFill>
            <a:prstDash val="solid"/>
          </a:ln>
        </p:spPr>
      </p:sp>
      <p:sp>
        <p:nvSpPr>
          <p:cNvPr id="25" name="Slide Number Placeholder 0"/>
          <p:cNvSpPr>
            <a:spLocks noGrp="1"/>
          </p:cNvSpPr>
          <p:nvPr>
            <p:ph type="sldNum" sz="quarter" idx="4294967295"/>
          </p:nvPr>
        </p:nvSpPr>
        <p:spPr>
          <a:xfrm>
            <a:off x="11228832" y="6565392"/>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B7B8B"/>
                </a:solidFill>
                <a:latin typeface="Aptos"/>
                <a:ea typeface="Aptos"/>
                <a:cs typeface="Aptos"/>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274320"/>
            <a:ext cx="7589520" cy="438912"/>
          </a:xfrm>
          <a:prstGeom prst="rect">
            <a:avLst/>
          </a:prstGeom>
          <a:noFill/>
          <a:ln/>
        </p:spPr>
        <p:txBody>
          <a:bodyPr wrap="square" lIns="254" tIns="254" rIns="254" bIns="254" rtlCol="0" anchor="ctr">
            <a:normAutofit/>
          </a:bodyPr>
          <a:lstStyle/>
          <a:p>
            <a:pPr indent="0" marL="0">
              <a:buNone/>
            </a:pPr>
            <a:r>
              <a:rPr lang="en-US" sz="2400" b="1" dirty="0">
                <a:solidFill>
                  <a:srgbClr val="0B2C4D"/>
                </a:solidFill>
                <a:latin typeface="Aptos Display" pitchFamily="34" charset="0"/>
                <a:ea typeface="Aptos Display" pitchFamily="34" charset="-122"/>
                <a:cs typeface="Aptos Display" pitchFamily="34" charset="-120"/>
              </a:rPr>
              <a:t>Demand Forecasting &amp; Spatial Intelligence</a:t>
            </a:r>
            <a:endParaRPr lang="en-US" sz="2400" dirty="0"/>
          </a:p>
        </p:txBody>
      </p:sp>
      <p:sp>
        <p:nvSpPr>
          <p:cNvPr id="3" name="Text 1"/>
          <p:cNvSpPr/>
          <p:nvPr/>
        </p:nvSpPr>
        <p:spPr>
          <a:xfrm>
            <a:off x="521208" y="749808"/>
            <a:ext cx="9875520" cy="228600"/>
          </a:xfrm>
          <a:prstGeom prst="rect">
            <a:avLst/>
          </a:prstGeom>
          <a:noFill/>
          <a:ln/>
        </p:spPr>
        <p:txBody>
          <a:bodyPr wrap="square" lIns="254" tIns="254" rIns="254" bIns="254" rtlCol="0" anchor="ctr"/>
          <a:lstStyle/>
          <a:p>
            <a:pPr indent="0" marL="0">
              <a:buNone/>
            </a:pPr>
            <a:r>
              <a:rPr lang="en-US" sz="1050" dirty="0">
                <a:solidFill>
                  <a:srgbClr val="5E6B75"/>
                </a:solidFill>
              </a:rPr>
              <a:t>Choosing horizon-specific forecasts and locating concentrated demand</a:t>
            </a:r>
            <a:endParaRPr lang="en-US" sz="1050" dirty="0"/>
          </a:p>
        </p:txBody>
      </p:sp>
      <p:sp>
        <p:nvSpPr>
          <p:cNvPr id="4" name="Shape 2"/>
          <p:cNvSpPr/>
          <p:nvPr/>
        </p:nvSpPr>
        <p:spPr>
          <a:xfrm>
            <a:off x="594360" y="1078992"/>
            <a:ext cx="5257800" cy="3108960"/>
          </a:xfrm>
          <a:prstGeom prst="roundRect">
            <a:avLst>
              <a:gd name="adj" fmla="val 2941"/>
            </a:avLst>
          </a:prstGeom>
          <a:solidFill>
            <a:srgbClr val="FFFFFF"/>
          </a:solidFill>
          <a:ln w="17780">
            <a:solidFill>
              <a:srgbClr val="2578D5"/>
            </a:solidFill>
            <a:prstDash val="solid"/>
          </a:ln>
        </p:spPr>
      </p:sp>
      <p:pic>
        <p:nvPicPr>
          <p:cNvPr id="34" name="demand_forecast" descr="Source: reports/figures/demand_forecast.png"/>
          <p:cNvPicPr>
            <a:picLocks noChangeAspect="1"/>
          </p:cNvPicPr>
          <p:nvPr/>
        </p:nvPicPr>
        <p:blipFill>
          <a:blip r:embed="rIdUfaAsset1"/>
          <a:stretch>
            <a:fillRect/>
          </a:stretch>
        </p:blipFill>
        <p:spPr>
          <a:xfrm>
            <a:off x="1445484" y="1151992"/>
            <a:ext cx="3555552" cy="2962960"/>
          </a:xfrm>
          <a:prstGeom prst="rect">
            <a:avLst/>
          </a:prstGeom>
        </p:spPr>
      </p:pic>
      <p:sp>
        <p:nvSpPr>
          <p:cNvPr id="8" name="Shape 6"/>
          <p:cNvSpPr/>
          <p:nvPr/>
        </p:nvSpPr>
        <p:spPr>
          <a:xfrm>
            <a:off x="6080760" y="1078992"/>
            <a:ext cx="5440680" cy="3108960"/>
          </a:xfrm>
          <a:prstGeom prst="roundRect">
            <a:avLst>
              <a:gd name="adj" fmla="val 2941"/>
            </a:avLst>
          </a:prstGeom>
          <a:solidFill>
            <a:srgbClr val="FFFFFF"/>
          </a:solidFill>
          <a:ln w="17780">
            <a:solidFill>
              <a:srgbClr val="13A6A6"/>
            </a:solidFill>
            <a:prstDash val="solid"/>
          </a:ln>
        </p:spPr>
      </p:sp>
      <p:pic>
        <p:nvPicPr>
          <p:cNvPr id="35" name="hotspot_zones" descr="Source: reports/figures/hotspot_zones.png"/>
          <p:cNvPicPr>
            <a:picLocks noChangeAspect="1"/>
          </p:cNvPicPr>
          <p:nvPr/>
        </p:nvPicPr>
        <p:blipFill>
          <a:blip r:embed="rIdUfaAsset2"/>
          <a:stretch>
            <a:fillRect/>
          </a:stretch>
        </p:blipFill>
        <p:spPr>
          <a:xfrm>
            <a:off x="6153760" y="1475261"/>
            <a:ext cx="5294680" cy="2316422"/>
          </a:xfrm>
          <a:prstGeom prst="rect">
            <a:avLst/>
          </a:prstGeom>
        </p:spPr>
      </p:pic>
      <p:sp>
        <p:nvSpPr>
          <p:cNvPr id="12" name="Shape 10"/>
          <p:cNvSpPr/>
          <p:nvPr/>
        </p:nvSpPr>
        <p:spPr>
          <a:xfrm>
            <a:off x="868680" y="4590288"/>
            <a:ext cx="2331720" cy="777240"/>
          </a:xfrm>
          <a:prstGeom prst="roundRect">
            <a:avLst>
              <a:gd name="adj" fmla="val 9412"/>
            </a:avLst>
          </a:prstGeom>
          <a:solidFill>
            <a:srgbClr val="E9F4FF"/>
          </a:solidFill>
          <a:ln w="12700">
            <a:solidFill>
              <a:srgbClr val="E9F4FF"/>
            </a:solidFill>
            <a:prstDash val="solid"/>
          </a:ln>
        </p:spPr>
      </p:sp>
      <p:sp>
        <p:nvSpPr>
          <p:cNvPr id="13" name="Text 11"/>
          <p:cNvSpPr/>
          <p:nvPr/>
        </p:nvSpPr>
        <p:spPr>
          <a:xfrm>
            <a:off x="996696" y="4727448"/>
            <a:ext cx="2075688" cy="329184"/>
          </a:xfrm>
          <a:prstGeom prst="rect">
            <a:avLst/>
          </a:prstGeom>
          <a:noFill/>
          <a:ln/>
        </p:spPr>
        <p:txBody>
          <a:bodyPr wrap="square" lIns="127" tIns="127" rIns="127" bIns="127" rtlCol="0" anchor="ctr">
            <a:normAutofit/>
          </a:bodyPr>
          <a:lstStyle/>
          <a:p>
            <a:pPr algn="ctr" indent="0" marL="0">
              <a:buNone/>
            </a:pPr>
            <a:r>
              <a:rPr lang="en-US" sz="1800" b="1" dirty="0">
                <a:solidFill>
                  <a:srgbClr val="2578D5"/>
                </a:solidFill>
              </a:rPr>
              <a:t>MAE 32.303</a:t>
            </a:r>
            <a:endParaRPr lang="en-US" sz="1800" dirty="0"/>
          </a:p>
        </p:txBody>
      </p:sp>
      <p:sp>
        <p:nvSpPr>
          <p:cNvPr id="14" name="Text 12"/>
          <p:cNvSpPr/>
          <p:nvPr/>
        </p:nvSpPr>
        <p:spPr>
          <a:xfrm>
            <a:off x="1014984" y="5093208"/>
            <a:ext cx="2039112" cy="182880"/>
          </a:xfrm>
          <a:prstGeom prst="rect">
            <a:avLst/>
          </a:prstGeom>
          <a:noFill/>
          <a:ln/>
        </p:spPr>
        <p:txBody>
          <a:bodyPr wrap="square" lIns="127" tIns="127" rIns="127" bIns="127" rtlCol="0" anchor="ctr">
            <a:normAutofit/>
          </a:bodyPr>
          <a:lstStyle/>
          <a:p>
            <a:pPr algn="ctr" indent="0" marL="0">
              <a:buNone/>
            </a:pPr>
            <a:r>
              <a:rPr lang="en-US" sz="770" b="1" dirty="0">
                <a:solidFill>
                  <a:srgbClr val="192B3A"/>
                </a:solidFill>
              </a:rPr>
              <a:t>24h winner: Gradient Boosting</a:t>
            </a:r>
            <a:endParaRPr lang="en-US" sz="770" dirty="0"/>
          </a:p>
        </p:txBody>
      </p:sp>
      <p:sp>
        <p:nvSpPr>
          <p:cNvPr id="15" name="Shape 13"/>
          <p:cNvSpPr/>
          <p:nvPr/>
        </p:nvSpPr>
        <p:spPr>
          <a:xfrm>
            <a:off x="3749040" y="4590288"/>
            <a:ext cx="2240280" cy="777240"/>
          </a:xfrm>
          <a:prstGeom prst="roundRect">
            <a:avLst>
              <a:gd name="adj" fmla="val 9412"/>
            </a:avLst>
          </a:prstGeom>
          <a:solidFill>
            <a:srgbClr val="F0EFFF"/>
          </a:solidFill>
          <a:ln w="12700">
            <a:solidFill>
              <a:srgbClr val="F0EFFF"/>
            </a:solidFill>
            <a:prstDash val="solid"/>
          </a:ln>
        </p:spPr>
      </p:sp>
      <p:sp>
        <p:nvSpPr>
          <p:cNvPr id="16" name="Text 14"/>
          <p:cNvSpPr/>
          <p:nvPr/>
        </p:nvSpPr>
        <p:spPr>
          <a:xfrm>
            <a:off x="3877056" y="4727448"/>
            <a:ext cx="1984248" cy="329184"/>
          </a:xfrm>
          <a:prstGeom prst="rect">
            <a:avLst/>
          </a:prstGeom>
          <a:noFill/>
          <a:ln/>
        </p:spPr>
        <p:txBody>
          <a:bodyPr wrap="square" lIns="127" tIns="127" rIns="127" bIns="127" rtlCol="0" anchor="ctr">
            <a:normAutofit/>
          </a:bodyPr>
          <a:lstStyle/>
          <a:p>
            <a:pPr algn="ctr" indent="0" marL="0">
              <a:buNone/>
            </a:pPr>
            <a:r>
              <a:rPr lang="en-US" sz="1800" b="1" dirty="0">
                <a:solidFill>
                  <a:srgbClr val="7367F0"/>
                </a:solidFill>
              </a:rPr>
              <a:t>79.58%</a:t>
            </a:r>
            <a:endParaRPr lang="en-US" sz="1800" dirty="0"/>
          </a:p>
        </p:txBody>
      </p:sp>
      <p:sp>
        <p:nvSpPr>
          <p:cNvPr id="17" name="Text 15"/>
          <p:cNvSpPr/>
          <p:nvPr/>
        </p:nvSpPr>
        <p:spPr>
          <a:xfrm>
            <a:off x="3895344" y="5093208"/>
            <a:ext cx="1947672" cy="182880"/>
          </a:xfrm>
          <a:prstGeom prst="rect">
            <a:avLst/>
          </a:prstGeom>
          <a:noFill/>
          <a:ln/>
        </p:spPr>
        <p:txBody>
          <a:bodyPr wrap="square" lIns="127" tIns="127" rIns="127" bIns="127" rtlCol="0" anchor="ctr">
            <a:normAutofit/>
          </a:bodyPr>
          <a:lstStyle/>
          <a:p>
            <a:pPr algn="ctr" indent="0" marL="0">
              <a:buNone/>
            </a:pPr>
            <a:r>
              <a:rPr lang="en-US" sz="770" b="1" dirty="0">
                <a:solidFill>
                  <a:srgbClr val="192B3A"/>
                </a:solidFill>
              </a:rPr>
              <a:t>Manhattan → Manhattan trips</a:t>
            </a:r>
            <a:endParaRPr lang="en-US" sz="770" dirty="0"/>
          </a:p>
        </p:txBody>
      </p:sp>
      <p:sp>
        <p:nvSpPr>
          <p:cNvPr id="18" name="Shape 16"/>
          <p:cNvSpPr/>
          <p:nvPr/>
        </p:nvSpPr>
        <p:spPr>
          <a:xfrm>
            <a:off x="6537960" y="4590288"/>
            <a:ext cx="2240280" cy="777240"/>
          </a:xfrm>
          <a:prstGeom prst="roundRect">
            <a:avLst>
              <a:gd name="adj" fmla="val 9412"/>
            </a:avLst>
          </a:prstGeom>
          <a:solidFill>
            <a:srgbClr val="FFF2D9"/>
          </a:solidFill>
          <a:ln w="12700">
            <a:solidFill>
              <a:srgbClr val="FFF2D9"/>
            </a:solidFill>
            <a:prstDash val="solid"/>
          </a:ln>
        </p:spPr>
      </p:sp>
      <p:sp>
        <p:nvSpPr>
          <p:cNvPr id="19" name="Text 17"/>
          <p:cNvSpPr/>
          <p:nvPr/>
        </p:nvSpPr>
        <p:spPr>
          <a:xfrm>
            <a:off x="6665976" y="4727448"/>
            <a:ext cx="1984248" cy="329184"/>
          </a:xfrm>
          <a:prstGeom prst="rect">
            <a:avLst/>
          </a:prstGeom>
          <a:noFill/>
          <a:ln/>
        </p:spPr>
        <p:txBody>
          <a:bodyPr wrap="square" lIns="127" tIns="127" rIns="127" bIns="127" rtlCol="0" anchor="ctr">
            <a:normAutofit/>
          </a:bodyPr>
          <a:lstStyle/>
          <a:p>
            <a:pPr algn="ctr" indent="0" marL="0">
              <a:buNone/>
            </a:pPr>
            <a:r>
              <a:rPr lang="en-US" sz="1800" b="1" dirty="0">
                <a:solidFill>
                  <a:srgbClr val="C87B00"/>
                </a:solidFill>
              </a:rPr>
              <a:t>2.08×</a:t>
            </a:r>
            <a:endParaRPr lang="en-US" sz="1800" dirty="0"/>
          </a:p>
        </p:txBody>
      </p:sp>
      <p:sp>
        <p:nvSpPr>
          <p:cNvPr id="20" name="Text 18"/>
          <p:cNvSpPr/>
          <p:nvPr/>
        </p:nvSpPr>
        <p:spPr>
          <a:xfrm>
            <a:off x="6684264" y="5093208"/>
            <a:ext cx="1947672" cy="182880"/>
          </a:xfrm>
          <a:prstGeom prst="rect">
            <a:avLst/>
          </a:prstGeom>
          <a:noFill/>
          <a:ln/>
        </p:spPr>
        <p:txBody>
          <a:bodyPr wrap="square" lIns="127" tIns="127" rIns="127" bIns="127" rtlCol="0" anchor="ctr">
            <a:normAutofit/>
          </a:bodyPr>
          <a:lstStyle/>
          <a:p>
            <a:pPr algn="ctr" indent="0" marL="0">
              <a:buNone/>
            </a:pPr>
            <a:r>
              <a:rPr lang="en-US" sz="770" b="1" dirty="0">
                <a:solidFill>
                  <a:srgbClr val="192B3A"/>
                </a:solidFill>
              </a:rPr>
              <a:t>Evening vs morning intensity</a:t>
            </a:r>
            <a:endParaRPr lang="en-US" sz="770" dirty="0"/>
          </a:p>
        </p:txBody>
      </p:sp>
      <p:sp>
        <p:nvSpPr>
          <p:cNvPr id="21" name="Shape 19"/>
          <p:cNvSpPr/>
          <p:nvPr/>
        </p:nvSpPr>
        <p:spPr>
          <a:xfrm>
            <a:off x="9189720" y="4590288"/>
            <a:ext cx="2240280" cy="777240"/>
          </a:xfrm>
          <a:prstGeom prst="roundRect">
            <a:avLst>
              <a:gd name="adj" fmla="val 9412"/>
            </a:avLst>
          </a:prstGeom>
          <a:solidFill>
            <a:srgbClr val="E8F7ED"/>
          </a:solidFill>
          <a:ln w="12700">
            <a:solidFill>
              <a:srgbClr val="E8F7ED"/>
            </a:solidFill>
            <a:prstDash val="solid"/>
          </a:ln>
        </p:spPr>
      </p:sp>
      <p:sp>
        <p:nvSpPr>
          <p:cNvPr id="22" name="Text 20"/>
          <p:cNvSpPr/>
          <p:nvPr/>
        </p:nvSpPr>
        <p:spPr>
          <a:xfrm>
            <a:off x="9317736" y="4727448"/>
            <a:ext cx="1984248" cy="329184"/>
          </a:xfrm>
          <a:prstGeom prst="rect">
            <a:avLst/>
          </a:prstGeom>
          <a:noFill/>
          <a:ln/>
        </p:spPr>
        <p:txBody>
          <a:bodyPr wrap="square" lIns="127" tIns="127" rIns="127" bIns="127" rtlCol="0" anchor="ctr">
            <a:normAutofit/>
          </a:bodyPr>
          <a:lstStyle/>
          <a:p>
            <a:pPr algn="ctr" indent="0" marL="0">
              <a:buNone/>
            </a:pPr>
            <a:r>
              <a:rPr lang="en-US" sz="1800" b="1" dirty="0">
                <a:solidFill>
                  <a:srgbClr val="37A169"/>
                </a:solidFill>
              </a:rPr>
              <a:t>Upper East Side South</a:t>
            </a:r>
            <a:endParaRPr lang="en-US" sz="1800" dirty="0"/>
          </a:p>
        </p:txBody>
      </p:sp>
      <p:sp>
        <p:nvSpPr>
          <p:cNvPr id="23" name="Text 21"/>
          <p:cNvSpPr/>
          <p:nvPr/>
        </p:nvSpPr>
        <p:spPr>
          <a:xfrm>
            <a:off x="9336024" y="5093208"/>
            <a:ext cx="1947672" cy="182880"/>
          </a:xfrm>
          <a:prstGeom prst="rect">
            <a:avLst/>
          </a:prstGeom>
          <a:noFill/>
          <a:ln/>
        </p:spPr>
        <p:txBody>
          <a:bodyPr wrap="square" lIns="127" tIns="127" rIns="127" bIns="127" rtlCol="0" anchor="ctr">
            <a:normAutofit/>
          </a:bodyPr>
          <a:lstStyle/>
          <a:p>
            <a:pPr algn="ctr" indent="0" marL="0">
              <a:buNone/>
            </a:pPr>
            <a:r>
              <a:rPr lang="en-US" sz="770" b="1" dirty="0">
                <a:solidFill>
                  <a:srgbClr val="192B3A"/>
                </a:solidFill>
              </a:rPr>
              <a:t>Top pickup zone</a:t>
            </a:r>
            <a:endParaRPr lang="en-US" sz="770" dirty="0"/>
          </a:p>
        </p:txBody>
      </p:sp>
      <p:sp>
        <p:nvSpPr>
          <p:cNvPr id="24" name="Text 22"/>
          <p:cNvSpPr/>
          <p:nvPr/>
        </p:nvSpPr>
        <p:spPr>
          <a:xfrm>
            <a:off x="6400800" y="6601968"/>
            <a:ext cx="4572000" cy="164592"/>
          </a:xfrm>
          <a:prstGeom prst="rect">
            <a:avLst/>
          </a:prstGeom>
          <a:noFill/>
          <a:ln/>
        </p:spPr>
        <p:txBody>
          <a:bodyPr wrap="square" lIns="0" tIns="0" rIns="0" bIns="0" rtlCol="0" anchor="ctr"/>
          <a:lstStyle/>
          <a:p>
            <a:pPr algn="r" indent="0" marL="0">
              <a:buNone/>
            </a:pPr>
            <a:r>
              <a:rPr lang="en-US" sz="650" dirty="0">
                <a:solidFill>
                  <a:srgbClr val="5E6B75"/>
                </a:solidFill>
              </a:rPr>
              <a:t>1:50–2:25</a:t>
            </a:r>
            <a:endParaRPr lang="en-US" sz="650" dirty="0"/>
          </a:p>
        </p:txBody>
      </p:sp>
      <p:sp>
        <p:nvSpPr>
          <p:cNvPr id="25" name="Shape 23"/>
          <p:cNvSpPr/>
          <p:nvPr/>
        </p:nvSpPr>
        <p:spPr>
          <a:xfrm>
            <a:off x="566928" y="6263640"/>
            <a:ext cx="109728" cy="109728"/>
          </a:xfrm>
          <a:prstGeom prst="ellipse">
            <a:avLst/>
          </a:prstGeom>
          <a:solidFill>
            <a:srgbClr val="D5E6F2"/>
          </a:solidFill>
          <a:ln w="12700">
            <a:solidFill>
              <a:srgbClr val="D5E6F2"/>
            </a:solidFill>
            <a:prstDash val="solid"/>
          </a:ln>
        </p:spPr>
      </p:sp>
      <p:sp>
        <p:nvSpPr>
          <p:cNvPr id="26" name="Shape 24"/>
          <p:cNvSpPr/>
          <p:nvPr/>
        </p:nvSpPr>
        <p:spPr>
          <a:xfrm>
            <a:off x="1051560" y="6263640"/>
            <a:ext cx="109728" cy="109728"/>
          </a:xfrm>
          <a:prstGeom prst="ellipse">
            <a:avLst/>
          </a:prstGeom>
          <a:solidFill>
            <a:srgbClr val="D5E6F2"/>
          </a:solidFill>
          <a:ln w="12700">
            <a:solidFill>
              <a:srgbClr val="D5E6F2"/>
            </a:solidFill>
            <a:prstDash val="solid"/>
          </a:ln>
        </p:spPr>
      </p:sp>
      <p:sp>
        <p:nvSpPr>
          <p:cNvPr id="27" name="Shape 25"/>
          <p:cNvSpPr/>
          <p:nvPr/>
        </p:nvSpPr>
        <p:spPr>
          <a:xfrm>
            <a:off x="1536192" y="6263640"/>
            <a:ext cx="109728" cy="109728"/>
          </a:xfrm>
          <a:prstGeom prst="ellipse">
            <a:avLst/>
          </a:prstGeom>
          <a:solidFill>
            <a:srgbClr val="D5E6F2"/>
          </a:solidFill>
          <a:ln w="12700">
            <a:solidFill>
              <a:srgbClr val="D5E6F2"/>
            </a:solidFill>
            <a:prstDash val="solid"/>
          </a:ln>
        </p:spPr>
      </p:sp>
      <p:sp>
        <p:nvSpPr>
          <p:cNvPr id="28" name="Shape 26"/>
          <p:cNvSpPr/>
          <p:nvPr/>
        </p:nvSpPr>
        <p:spPr>
          <a:xfrm>
            <a:off x="2020824" y="6263640"/>
            <a:ext cx="109728" cy="109728"/>
          </a:xfrm>
          <a:prstGeom prst="ellipse">
            <a:avLst/>
          </a:prstGeom>
          <a:solidFill>
            <a:srgbClr val="D5E6F2"/>
          </a:solidFill>
          <a:ln w="12700">
            <a:solidFill>
              <a:srgbClr val="D5E6F2"/>
            </a:solidFill>
            <a:prstDash val="solid"/>
          </a:ln>
        </p:spPr>
      </p:sp>
      <p:sp>
        <p:nvSpPr>
          <p:cNvPr id="29" name="Shape 27"/>
          <p:cNvSpPr/>
          <p:nvPr/>
        </p:nvSpPr>
        <p:spPr>
          <a:xfrm>
            <a:off x="2505456" y="6263640"/>
            <a:ext cx="109728" cy="109728"/>
          </a:xfrm>
          <a:prstGeom prst="ellipse">
            <a:avLst/>
          </a:prstGeom>
          <a:solidFill>
            <a:srgbClr val="13A6A6"/>
          </a:solidFill>
          <a:ln w="12700">
            <a:solidFill>
              <a:srgbClr val="13A6A6"/>
            </a:solidFill>
            <a:prstDash val="solid"/>
          </a:ln>
        </p:spPr>
      </p:sp>
      <p:sp>
        <p:nvSpPr>
          <p:cNvPr id="30" name="Shape 28"/>
          <p:cNvSpPr/>
          <p:nvPr/>
        </p:nvSpPr>
        <p:spPr>
          <a:xfrm>
            <a:off x="2990088" y="6263640"/>
            <a:ext cx="109728" cy="109728"/>
          </a:xfrm>
          <a:prstGeom prst="ellipse">
            <a:avLst/>
          </a:prstGeom>
          <a:solidFill>
            <a:srgbClr val="D5E6F2"/>
          </a:solidFill>
          <a:ln w="12700">
            <a:solidFill>
              <a:srgbClr val="D5E6F2"/>
            </a:solidFill>
            <a:prstDash val="solid"/>
          </a:ln>
        </p:spPr>
      </p:sp>
      <p:sp>
        <p:nvSpPr>
          <p:cNvPr id="31" name="Shape 29"/>
          <p:cNvSpPr/>
          <p:nvPr/>
        </p:nvSpPr>
        <p:spPr>
          <a:xfrm>
            <a:off x="3474720" y="6263640"/>
            <a:ext cx="109728" cy="109728"/>
          </a:xfrm>
          <a:prstGeom prst="ellipse">
            <a:avLst/>
          </a:prstGeom>
          <a:solidFill>
            <a:srgbClr val="D5E6F2"/>
          </a:solidFill>
          <a:ln w="12700">
            <a:solidFill>
              <a:srgbClr val="D5E6F2"/>
            </a:solidFill>
            <a:prstDash val="solid"/>
          </a:ln>
        </p:spPr>
      </p:sp>
      <p:sp>
        <p:nvSpPr>
          <p:cNvPr id="32" name="Shape 30"/>
          <p:cNvSpPr/>
          <p:nvPr/>
        </p:nvSpPr>
        <p:spPr>
          <a:xfrm>
            <a:off x="3959352" y="6263640"/>
            <a:ext cx="109728" cy="109728"/>
          </a:xfrm>
          <a:prstGeom prst="ellipse">
            <a:avLst/>
          </a:prstGeom>
          <a:solidFill>
            <a:srgbClr val="D5E6F2"/>
          </a:solidFill>
          <a:ln w="12700">
            <a:solidFill>
              <a:srgbClr val="D5E6F2"/>
            </a:solidFill>
            <a:prstDash val="solid"/>
          </a:ln>
        </p:spPr>
      </p:sp>
      <p:sp>
        <p:nvSpPr>
          <p:cNvPr id="33" name="Shape 31"/>
          <p:cNvSpPr/>
          <p:nvPr/>
        </p:nvSpPr>
        <p:spPr>
          <a:xfrm>
            <a:off x="4443984" y="6263640"/>
            <a:ext cx="109728" cy="109728"/>
          </a:xfrm>
          <a:prstGeom prst="ellipse">
            <a:avLst/>
          </a:prstGeom>
          <a:solidFill>
            <a:srgbClr val="D5E6F2"/>
          </a:solidFill>
          <a:ln w="12700">
            <a:solidFill>
              <a:srgbClr val="D5E6F2"/>
            </a:solidFill>
            <a:prstDash val="solid"/>
          </a:ln>
        </p:spPr>
      </p:sp>
      <p:sp>
        <p:nvSpPr>
          <p:cNvPr id="25" name="Slide Number Placeholder 0"/>
          <p:cNvSpPr>
            <a:spLocks noGrp="1"/>
          </p:cNvSpPr>
          <p:nvPr>
            <p:ph type="sldNum" sz="quarter" idx="4294967295"/>
          </p:nvPr>
        </p:nvSpPr>
        <p:spPr>
          <a:xfrm>
            <a:off x="11228832" y="6565392"/>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B7B8B"/>
                </a:solidFill>
                <a:latin typeface="Aptos"/>
                <a:ea typeface="Aptos"/>
                <a:cs typeface="Aptos"/>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274320"/>
            <a:ext cx="7589520" cy="438912"/>
          </a:xfrm>
          <a:prstGeom prst="rect">
            <a:avLst/>
          </a:prstGeom>
          <a:noFill/>
          <a:ln/>
        </p:spPr>
        <p:txBody>
          <a:bodyPr wrap="square" lIns="254" tIns="254" rIns="254" bIns="254" rtlCol="0" anchor="ctr">
            <a:normAutofit/>
          </a:bodyPr>
          <a:lstStyle/>
          <a:p>
            <a:pPr indent="0" marL="0">
              <a:buNone/>
            </a:pPr>
            <a:r>
              <a:rPr lang="en-US" sz="2400" b="1" dirty="0">
                <a:solidFill>
                  <a:srgbClr val="0B2C4D"/>
                </a:solidFill>
                <a:latin typeface="Aptos Display" pitchFamily="34" charset="0"/>
                <a:ea typeface="Aptos Display" pitchFamily="34" charset="-122"/>
                <a:cs typeface="Aptos Display" pitchFamily="34" charset="-120"/>
              </a:rPr>
              <a:t>Live Demo: Business Analytics Dashboard</a:t>
            </a:r>
            <a:endParaRPr lang="en-US" sz="2400" dirty="0"/>
          </a:p>
        </p:txBody>
      </p:sp>
      <p:sp>
        <p:nvSpPr>
          <p:cNvPr id="3" name="Text 1"/>
          <p:cNvSpPr/>
          <p:nvPr/>
        </p:nvSpPr>
        <p:spPr>
          <a:xfrm>
            <a:off x="521208" y="749808"/>
            <a:ext cx="9875520" cy="228600"/>
          </a:xfrm>
          <a:prstGeom prst="rect">
            <a:avLst/>
          </a:prstGeom>
          <a:noFill/>
          <a:ln/>
        </p:spPr>
        <p:txBody>
          <a:bodyPr wrap="square" lIns="254" tIns="254" rIns="254" bIns="254" rtlCol="0" anchor="ctr"/>
          <a:lstStyle/>
          <a:p>
            <a:pPr indent="0" marL="0">
              <a:buNone/>
            </a:pPr>
            <a:r>
              <a:rPr lang="en-US" sz="1050" dirty="0">
                <a:solidFill>
                  <a:srgbClr val="5E6B75"/>
                </a:solidFill>
              </a:rPr>
              <a:t>Show the management-facing layer built from verified analytics outputs</a:t>
            </a:r>
            <a:endParaRPr lang="en-US" sz="1050" dirty="0"/>
          </a:p>
        </p:txBody>
      </p:sp>
      <p:sp>
        <p:nvSpPr>
          <p:cNvPr id="4" name="Shape 2"/>
          <p:cNvSpPr/>
          <p:nvPr/>
        </p:nvSpPr>
        <p:spPr>
          <a:xfrm>
            <a:off x="594360" y="1097280"/>
            <a:ext cx="6583680" cy="4572000"/>
          </a:xfrm>
          <a:prstGeom prst="roundRect">
            <a:avLst>
              <a:gd name="adj" fmla="val 2000"/>
            </a:avLst>
          </a:prstGeom>
          <a:solidFill>
            <a:srgbClr val="FFFFFF"/>
          </a:solidFill>
          <a:ln w="17780">
            <a:solidFill>
              <a:srgbClr val="13A6A6"/>
            </a:solidFill>
            <a:prstDash val="solid"/>
          </a:ln>
        </p:spPr>
      </p:sp>
      <p:pic>
        <p:nvPicPr>
          <p:cNvPr id="30" name="dashboard_overview" descr="Source: reports/presentation_assets/dashboard_overview.png"/>
          <p:cNvPicPr>
            <a:picLocks noChangeAspect="1"/>
          </p:cNvPicPr>
          <p:nvPr/>
        </p:nvPicPr>
        <p:blipFill>
          <a:blip r:embed="rIdUfaAsset1"/>
          <a:stretch>
            <a:fillRect/>
          </a:stretch>
        </p:blipFill>
        <p:spPr>
          <a:xfrm>
            <a:off x="1115139" y="1170280"/>
            <a:ext cx="5542122" cy="4426000"/>
          </a:xfrm>
          <a:prstGeom prst="rect">
            <a:avLst/>
          </a:prstGeom>
        </p:spPr>
      </p:pic>
      <p:sp>
        <p:nvSpPr>
          <p:cNvPr id="8" name="Shape 6"/>
          <p:cNvSpPr/>
          <p:nvPr/>
        </p:nvSpPr>
        <p:spPr>
          <a:xfrm>
            <a:off x="7498080" y="1097280"/>
            <a:ext cx="3977640" cy="4572000"/>
          </a:xfrm>
          <a:prstGeom prst="roundRect">
            <a:avLst>
              <a:gd name="adj" fmla="val 2299"/>
            </a:avLst>
          </a:prstGeom>
          <a:solidFill>
            <a:srgbClr val="FFFFFF"/>
          </a:solidFill>
          <a:ln w="12700">
            <a:solidFill>
              <a:srgbClr val="CFE2F3"/>
            </a:solidFill>
            <a:prstDash val="solid"/>
          </a:ln>
        </p:spPr>
      </p:sp>
      <p:sp>
        <p:nvSpPr>
          <p:cNvPr id="9" name="Text 7"/>
          <p:cNvSpPr/>
          <p:nvPr/>
        </p:nvSpPr>
        <p:spPr>
          <a:xfrm>
            <a:off x="7790688" y="1417320"/>
            <a:ext cx="3383280" cy="256032"/>
          </a:xfrm>
          <a:prstGeom prst="rect">
            <a:avLst/>
          </a:prstGeom>
          <a:noFill/>
          <a:ln/>
        </p:spPr>
        <p:txBody>
          <a:bodyPr wrap="square" lIns="254" tIns="254" rIns="254" bIns="254" rtlCol="0" anchor="ctr"/>
          <a:lstStyle/>
          <a:p>
            <a:pPr indent="0" marL="0">
              <a:buNone/>
            </a:pPr>
            <a:r>
              <a:rPr lang="en-US" sz="1600" b="1" dirty="0">
                <a:solidFill>
                  <a:srgbClr val="0B2C4D"/>
                </a:solidFill>
              </a:rPr>
              <a:t>Demo path</a:t>
            </a:r>
            <a:endParaRPr lang="en-US" sz="1600" dirty="0"/>
          </a:p>
        </p:txBody>
      </p:sp>
      <p:sp>
        <p:nvSpPr>
          <p:cNvPr id="10" name="Shape 8"/>
          <p:cNvSpPr/>
          <p:nvPr/>
        </p:nvSpPr>
        <p:spPr>
          <a:xfrm>
            <a:off x="7808976" y="1901952"/>
            <a:ext cx="3337560" cy="384048"/>
          </a:xfrm>
          <a:prstGeom prst="roundRect">
            <a:avLst>
              <a:gd name="adj" fmla="val 14286"/>
            </a:avLst>
          </a:prstGeom>
          <a:solidFill>
            <a:srgbClr val="E9F4FF"/>
          </a:solidFill>
          <a:ln w="12700">
            <a:solidFill>
              <a:srgbClr val="FFFFFF">
                <a:alpha val="0"/>
              </a:srgbClr>
            </a:solidFill>
            <a:prstDash val="solid"/>
          </a:ln>
        </p:spPr>
      </p:sp>
      <p:sp>
        <p:nvSpPr>
          <p:cNvPr id="11" name="Text 9"/>
          <p:cNvSpPr/>
          <p:nvPr/>
        </p:nvSpPr>
        <p:spPr>
          <a:xfrm>
            <a:off x="7973568" y="2002536"/>
            <a:ext cx="3017520" cy="137160"/>
          </a:xfrm>
          <a:prstGeom prst="rect">
            <a:avLst/>
          </a:prstGeom>
          <a:noFill/>
          <a:ln/>
        </p:spPr>
        <p:txBody>
          <a:bodyPr wrap="square" lIns="127" tIns="127" rIns="127" bIns="127" rtlCol="0" anchor="ctr"/>
          <a:lstStyle/>
          <a:p>
            <a:pPr indent="0" marL="0">
              <a:buNone/>
            </a:pPr>
            <a:r>
              <a:rPr lang="en-US" sz="920" b="1" dirty="0">
                <a:solidFill>
                  <a:srgbClr val="192B3A"/>
                </a:solidFill>
              </a:rPr>
              <a:t>1. Executive Overview</a:t>
            </a:r>
            <a:endParaRPr lang="en-US" sz="920" dirty="0"/>
          </a:p>
        </p:txBody>
      </p:sp>
      <p:sp>
        <p:nvSpPr>
          <p:cNvPr id="12" name="Shape 10"/>
          <p:cNvSpPr/>
          <p:nvPr/>
        </p:nvSpPr>
        <p:spPr>
          <a:xfrm>
            <a:off x="7808976" y="2523744"/>
            <a:ext cx="3337560" cy="384048"/>
          </a:xfrm>
          <a:prstGeom prst="roundRect">
            <a:avLst>
              <a:gd name="adj" fmla="val 14286"/>
            </a:avLst>
          </a:prstGeom>
          <a:solidFill>
            <a:srgbClr val="DDF7F5"/>
          </a:solidFill>
          <a:ln w="12700">
            <a:solidFill>
              <a:srgbClr val="FFFFFF">
                <a:alpha val="0"/>
              </a:srgbClr>
            </a:solidFill>
            <a:prstDash val="solid"/>
          </a:ln>
        </p:spPr>
      </p:sp>
      <p:sp>
        <p:nvSpPr>
          <p:cNvPr id="13" name="Text 11"/>
          <p:cNvSpPr/>
          <p:nvPr/>
        </p:nvSpPr>
        <p:spPr>
          <a:xfrm>
            <a:off x="7973568" y="2624328"/>
            <a:ext cx="3017520" cy="137160"/>
          </a:xfrm>
          <a:prstGeom prst="rect">
            <a:avLst/>
          </a:prstGeom>
          <a:noFill/>
          <a:ln/>
        </p:spPr>
        <p:txBody>
          <a:bodyPr wrap="square" lIns="127" tIns="127" rIns="127" bIns="127" rtlCol="0" anchor="ctr"/>
          <a:lstStyle/>
          <a:p>
            <a:pPr indent="0" marL="0">
              <a:buNone/>
            </a:pPr>
            <a:r>
              <a:rPr lang="en-US" sz="920" b="1" dirty="0">
                <a:solidFill>
                  <a:srgbClr val="192B3A"/>
                </a:solidFill>
              </a:rPr>
              <a:t>2. Demand &amp; Hotspots</a:t>
            </a:r>
            <a:endParaRPr lang="en-US" sz="920" dirty="0"/>
          </a:p>
        </p:txBody>
      </p:sp>
      <p:sp>
        <p:nvSpPr>
          <p:cNvPr id="14" name="Shape 12"/>
          <p:cNvSpPr/>
          <p:nvPr/>
        </p:nvSpPr>
        <p:spPr>
          <a:xfrm>
            <a:off x="7808976" y="3145536"/>
            <a:ext cx="3337560" cy="384048"/>
          </a:xfrm>
          <a:prstGeom prst="roundRect">
            <a:avLst>
              <a:gd name="adj" fmla="val 14286"/>
            </a:avLst>
          </a:prstGeom>
          <a:solidFill>
            <a:srgbClr val="F0EFFF"/>
          </a:solidFill>
          <a:ln w="12700">
            <a:solidFill>
              <a:srgbClr val="FFFFFF">
                <a:alpha val="0"/>
              </a:srgbClr>
            </a:solidFill>
            <a:prstDash val="solid"/>
          </a:ln>
        </p:spPr>
      </p:sp>
      <p:sp>
        <p:nvSpPr>
          <p:cNvPr id="15" name="Text 13"/>
          <p:cNvSpPr/>
          <p:nvPr/>
        </p:nvSpPr>
        <p:spPr>
          <a:xfrm>
            <a:off x="7973568" y="3246120"/>
            <a:ext cx="3017520" cy="137160"/>
          </a:xfrm>
          <a:prstGeom prst="rect">
            <a:avLst/>
          </a:prstGeom>
          <a:noFill/>
          <a:ln/>
        </p:spPr>
        <p:txBody>
          <a:bodyPr wrap="square" lIns="127" tIns="127" rIns="127" bIns="127" rtlCol="0" anchor="ctr"/>
          <a:lstStyle/>
          <a:p>
            <a:pPr indent="0" marL="0">
              <a:buNone/>
            </a:pPr>
            <a:r>
              <a:rPr lang="en-US" sz="920" b="1" dirty="0">
                <a:solidFill>
                  <a:srgbClr val="192B3A"/>
                </a:solidFill>
              </a:rPr>
              <a:t>3. Forecasting</a:t>
            </a:r>
            <a:endParaRPr lang="en-US" sz="920" dirty="0"/>
          </a:p>
        </p:txBody>
      </p:sp>
      <p:sp>
        <p:nvSpPr>
          <p:cNvPr id="16" name="Shape 14"/>
          <p:cNvSpPr/>
          <p:nvPr/>
        </p:nvSpPr>
        <p:spPr>
          <a:xfrm>
            <a:off x="7808976" y="3767328"/>
            <a:ext cx="3337560" cy="384048"/>
          </a:xfrm>
          <a:prstGeom prst="roundRect">
            <a:avLst>
              <a:gd name="adj" fmla="val 14286"/>
            </a:avLst>
          </a:prstGeom>
          <a:solidFill>
            <a:srgbClr val="FFF2D9"/>
          </a:solidFill>
          <a:ln w="12700">
            <a:solidFill>
              <a:srgbClr val="FFFFFF">
                <a:alpha val="0"/>
              </a:srgbClr>
            </a:solidFill>
            <a:prstDash val="solid"/>
          </a:ln>
        </p:spPr>
      </p:sp>
      <p:sp>
        <p:nvSpPr>
          <p:cNvPr id="17" name="Text 15"/>
          <p:cNvSpPr/>
          <p:nvPr/>
        </p:nvSpPr>
        <p:spPr>
          <a:xfrm>
            <a:off x="7973568" y="3867912"/>
            <a:ext cx="3017520" cy="137160"/>
          </a:xfrm>
          <a:prstGeom prst="rect">
            <a:avLst/>
          </a:prstGeom>
          <a:noFill/>
          <a:ln/>
        </p:spPr>
        <p:txBody>
          <a:bodyPr wrap="square" lIns="127" tIns="127" rIns="127" bIns="127" rtlCol="0" anchor="ctr"/>
          <a:lstStyle/>
          <a:p>
            <a:pPr indent="0" marL="0">
              <a:buNone/>
            </a:pPr>
            <a:r>
              <a:rPr lang="en-US" sz="920" b="1" dirty="0">
                <a:solidFill>
                  <a:srgbClr val="192B3A"/>
                </a:solidFill>
              </a:rPr>
              <a:t>4. Recommendations</a:t>
            </a:r>
            <a:endParaRPr lang="en-US" sz="920" dirty="0"/>
          </a:p>
        </p:txBody>
      </p:sp>
      <p:sp>
        <p:nvSpPr>
          <p:cNvPr id="18" name="Text 16"/>
          <p:cNvSpPr/>
          <p:nvPr/>
        </p:nvSpPr>
        <p:spPr>
          <a:xfrm>
            <a:off x="7818120" y="4663440"/>
            <a:ext cx="3310128" cy="274320"/>
          </a:xfrm>
          <a:prstGeom prst="rect">
            <a:avLst/>
          </a:prstGeom>
          <a:noFill/>
          <a:ln/>
        </p:spPr>
        <p:txBody>
          <a:bodyPr wrap="square" lIns="254" tIns="254" rIns="254" bIns="254" rtlCol="0" anchor="ctr">
            <a:normAutofit/>
          </a:bodyPr>
          <a:lstStyle/>
          <a:p>
            <a:pPr algn="ctr" indent="0" marL="0">
              <a:buNone/>
            </a:pPr>
            <a:r>
              <a:rPr lang="en-US" sz="1000" b="1" dirty="0">
                <a:solidFill>
                  <a:srgbClr val="5E6B75"/>
                </a:solidFill>
              </a:rPr>
              <a:t>Show how managers move from evidence to action.</a:t>
            </a:r>
            <a:endParaRPr lang="en-US" sz="1000" dirty="0"/>
          </a:p>
        </p:txBody>
      </p:sp>
      <p:sp>
        <p:nvSpPr>
          <p:cNvPr id="19" name="Text 17"/>
          <p:cNvSpPr/>
          <p:nvPr/>
        </p:nvSpPr>
        <p:spPr>
          <a:xfrm>
            <a:off x="7818120" y="5074920"/>
            <a:ext cx="3310128" cy="329184"/>
          </a:xfrm>
          <a:prstGeom prst="rect">
            <a:avLst/>
          </a:prstGeom>
          <a:noFill/>
          <a:ln/>
        </p:spPr>
        <p:txBody>
          <a:bodyPr wrap="square" lIns="254" tIns="254" rIns="254" bIns="254" rtlCol="0" anchor="ctr">
            <a:normAutofit/>
          </a:bodyPr>
          <a:lstStyle/>
          <a:p>
            <a:pPr algn="ctr" indent="0" marL="0">
              <a:buNone/>
            </a:pPr>
            <a:r>
              <a:rPr lang="en-US" sz="730" dirty="0">
                <a:solidFill>
                  <a:srgbClr val="5E6B75"/>
                </a:solidFill>
              </a:rPr>
              <a:t>Launch before recording:</a:t>
            </a:r>
            <a:endParaRPr lang="en-US" sz="730" dirty="0"/>
          </a:p>
          <a:p>
            <a:pPr algn="ctr" indent="0" marL="0">
              <a:buNone/>
            </a:pPr>
            <a:r>
              <a:rPr lang="en-US" sz="730" dirty="0">
                <a:solidFill>
                  <a:srgbClr val="5E6B75"/>
                </a:solidFill>
              </a:rPr>
              <a:t>python -m streamlit run dashboard/app.py --server.port 8501</a:t>
            </a:r>
            <a:endParaRPr lang="en-US" sz="730" dirty="0"/>
          </a:p>
        </p:txBody>
      </p:sp>
      <p:sp>
        <p:nvSpPr>
          <p:cNvPr id="20" name="Text 18"/>
          <p:cNvSpPr/>
          <p:nvPr/>
        </p:nvSpPr>
        <p:spPr>
          <a:xfrm>
            <a:off x="6400800" y="6601968"/>
            <a:ext cx="4572000" cy="164592"/>
          </a:xfrm>
          <a:prstGeom prst="rect">
            <a:avLst/>
          </a:prstGeom>
          <a:noFill/>
          <a:ln/>
        </p:spPr>
        <p:txBody>
          <a:bodyPr wrap="square" lIns="0" tIns="0" rIns="0" bIns="0" rtlCol="0" anchor="ctr"/>
          <a:lstStyle/>
          <a:p>
            <a:pPr algn="r" indent="0" marL="0">
              <a:buNone/>
            </a:pPr>
            <a:r>
              <a:rPr lang="en-US" sz="650" dirty="0">
                <a:solidFill>
                  <a:srgbClr val="5E6B75"/>
                </a:solidFill>
              </a:rPr>
              <a:t>2:25–3:00</a:t>
            </a:r>
            <a:endParaRPr lang="en-US" sz="650" dirty="0"/>
          </a:p>
        </p:txBody>
      </p:sp>
      <p:sp>
        <p:nvSpPr>
          <p:cNvPr id="21" name="Shape 19"/>
          <p:cNvSpPr/>
          <p:nvPr/>
        </p:nvSpPr>
        <p:spPr>
          <a:xfrm>
            <a:off x="566928" y="6263640"/>
            <a:ext cx="109728" cy="109728"/>
          </a:xfrm>
          <a:prstGeom prst="ellipse">
            <a:avLst/>
          </a:prstGeom>
          <a:solidFill>
            <a:srgbClr val="D5E6F2"/>
          </a:solidFill>
          <a:ln w="12700">
            <a:solidFill>
              <a:srgbClr val="D5E6F2"/>
            </a:solidFill>
            <a:prstDash val="solid"/>
          </a:ln>
        </p:spPr>
      </p:sp>
      <p:sp>
        <p:nvSpPr>
          <p:cNvPr id="22" name="Shape 20"/>
          <p:cNvSpPr/>
          <p:nvPr/>
        </p:nvSpPr>
        <p:spPr>
          <a:xfrm>
            <a:off x="1051560" y="6263640"/>
            <a:ext cx="109728" cy="109728"/>
          </a:xfrm>
          <a:prstGeom prst="ellipse">
            <a:avLst/>
          </a:prstGeom>
          <a:solidFill>
            <a:srgbClr val="D5E6F2"/>
          </a:solidFill>
          <a:ln w="12700">
            <a:solidFill>
              <a:srgbClr val="D5E6F2"/>
            </a:solidFill>
            <a:prstDash val="solid"/>
          </a:ln>
        </p:spPr>
      </p:sp>
      <p:sp>
        <p:nvSpPr>
          <p:cNvPr id="23" name="Shape 21"/>
          <p:cNvSpPr/>
          <p:nvPr/>
        </p:nvSpPr>
        <p:spPr>
          <a:xfrm>
            <a:off x="1536192" y="6263640"/>
            <a:ext cx="109728" cy="109728"/>
          </a:xfrm>
          <a:prstGeom prst="ellipse">
            <a:avLst/>
          </a:prstGeom>
          <a:solidFill>
            <a:srgbClr val="D5E6F2"/>
          </a:solidFill>
          <a:ln w="12700">
            <a:solidFill>
              <a:srgbClr val="D5E6F2"/>
            </a:solidFill>
            <a:prstDash val="solid"/>
          </a:ln>
        </p:spPr>
      </p:sp>
      <p:sp>
        <p:nvSpPr>
          <p:cNvPr id="24" name="Shape 22"/>
          <p:cNvSpPr/>
          <p:nvPr/>
        </p:nvSpPr>
        <p:spPr>
          <a:xfrm>
            <a:off x="2020824" y="6263640"/>
            <a:ext cx="109728" cy="109728"/>
          </a:xfrm>
          <a:prstGeom prst="ellipse">
            <a:avLst/>
          </a:prstGeom>
          <a:solidFill>
            <a:srgbClr val="D5E6F2"/>
          </a:solidFill>
          <a:ln w="12700">
            <a:solidFill>
              <a:srgbClr val="D5E6F2"/>
            </a:solidFill>
            <a:prstDash val="solid"/>
          </a:ln>
        </p:spPr>
      </p:sp>
      <p:sp>
        <p:nvSpPr>
          <p:cNvPr id="25" name="Shape 23"/>
          <p:cNvSpPr/>
          <p:nvPr/>
        </p:nvSpPr>
        <p:spPr>
          <a:xfrm>
            <a:off x="2505456" y="6263640"/>
            <a:ext cx="109728" cy="109728"/>
          </a:xfrm>
          <a:prstGeom prst="ellipse">
            <a:avLst/>
          </a:prstGeom>
          <a:solidFill>
            <a:srgbClr val="D5E6F2"/>
          </a:solidFill>
          <a:ln w="12700">
            <a:solidFill>
              <a:srgbClr val="D5E6F2"/>
            </a:solidFill>
            <a:prstDash val="solid"/>
          </a:ln>
        </p:spPr>
      </p:sp>
      <p:sp>
        <p:nvSpPr>
          <p:cNvPr id="26" name="Shape 24"/>
          <p:cNvSpPr/>
          <p:nvPr/>
        </p:nvSpPr>
        <p:spPr>
          <a:xfrm>
            <a:off x="2990088" y="6263640"/>
            <a:ext cx="109728" cy="109728"/>
          </a:xfrm>
          <a:prstGeom prst="ellipse">
            <a:avLst/>
          </a:prstGeom>
          <a:solidFill>
            <a:srgbClr val="13A6A6"/>
          </a:solidFill>
          <a:ln w="12700">
            <a:solidFill>
              <a:srgbClr val="13A6A6"/>
            </a:solidFill>
            <a:prstDash val="solid"/>
          </a:ln>
        </p:spPr>
      </p:sp>
      <p:sp>
        <p:nvSpPr>
          <p:cNvPr id="27" name="Shape 25"/>
          <p:cNvSpPr/>
          <p:nvPr/>
        </p:nvSpPr>
        <p:spPr>
          <a:xfrm>
            <a:off x="3474720" y="6263640"/>
            <a:ext cx="109728" cy="109728"/>
          </a:xfrm>
          <a:prstGeom prst="ellipse">
            <a:avLst/>
          </a:prstGeom>
          <a:solidFill>
            <a:srgbClr val="D5E6F2"/>
          </a:solidFill>
          <a:ln w="12700">
            <a:solidFill>
              <a:srgbClr val="D5E6F2"/>
            </a:solidFill>
            <a:prstDash val="solid"/>
          </a:ln>
        </p:spPr>
      </p:sp>
      <p:sp>
        <p:nvSpPr>
          <p:cNvPr id="28" name="Shape 26"/>
          <p:cNvSpPr/>
          <p:nvPr/>
        </p:nvSpPr>
        <p:spPr>
          <a:xfrm>
            <a:off x="3959352" y="6263640"/>
            <a:ext cx="109728" cy="109728"/>
          </a:xfrm>
          <a:prstGeom prst="ellipse">
            <a:avLst/>
          </a:prstGeom>
          <a:solidFill>
            <a:srgbClr val="D5E6F2"/>
          </a:solidFill>
          <a:ln w="12700">
            <a:solidFill>
              <a:srgbClr val="D5E6F2"/>
            </a:solidFill>
            <a:prstDash val="solid"/>
          </a:ln>
        </p:spPr>
      </p:sp>
      <p:sp>
        <p:nvSpPr>
          <p:cNvPr id="29" name="Shape 27"/>
          <p:cNvSpPr/>
          <p:nvPr/>
        </p:nvSpPr>
        <p:spPr>
          <a:xfrm>
            <a:off x="4443984" y="6263640"/>
            <a:ext cx="109728" cy="109728"/>
          </a:xfrm>
          <a:prstGeom prst="ellipse">
            <a:avLst/>
          </a:prstGeom>
          <a:solidFill>
            <a:srgbClr val="D5E6F2"/>
          </a:solidFill>
          <a:ln w="12700">
            <a:solidFill>
              <a:srgbClr val="D5E6F2"/>
            </a:solidFill>
            <a:prstDash val="solid"/>
          </a:ln>
        </p:spPr>
      </p:sp>
      <p:sp>
        <p:nvSpPr>
          <p:cNvPr id="25" name="Slide Number Placeholder 0"/>
          <p:cNvSpPr>
            <a:spLocks noGrp="1"/>
          </p:cNvSpPr>
          <p:nvPr>
            <p:ph type="sldNum" sz="quarter" idx="4294967295"/>
          </p:nvPr>
        </p:nvSpPr>
        <p:spPr>
          <a:xfrm>
            <a:off x="11228832" y="6565392"/>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B7B8B"/>
                </a:solidFill>
                <a:latin typeface="Aptos"/>
                <a:ea typeface="Aptos"/>
                <a:cs typeface="Aptos"/>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2920" y="274320"/>
            <a:ext cx="7589520" cy="438912"/>
          </a:xfrm>
          <a:prstGeom prst="rect">
            <a:avLst/>
          </a:prstGeom>
          <a:noFill/>
          <a:ln/>
        </p:spPr>
        <p:txBody>
          <a:bodyPr wrap="square" lIns="254" tIns="254" rIns="254" bIns="254" rtlCol="0" anchor="ctr">
            <a:normAutofit/>
          </a:bodyPr>
          <a:lstStyle/>
          <a:p>
            <a:pPr indent="0" marL="0">
              <a:buNone/>
            </a:pPr>
            <a:r>
              <a:rPr lang="en-US" sz="2400" b="1" dirty="0">
                <a:solidFill>
                  <a:srgbClr val="0B2C4D"/>
                </a:solidFill>
                <a:latin typeface="Aptos Display" pitchFamily="34" charset="0"/>
                <a:ea typeface="Aptos Display" pitchFamily="34" charset="-122"/>
                <a:cs typeface="Aptos Display" pitchFamily="34" charset="-120"/>
              </a:rPr>
              <a:t>Live Demo: AI Mobility Assistant</a:t>
            </a:r>
            <a:endParaRPr lang="en-US" sz="2400" dirty="0"/>
          </a:p>
        </p:txBody>
      </p:sp>
      <p:sp>
        <p:nvSpPr>
          <p:cNvPr id="3" name="Text 1"/>
          <p:cNvSpPr/>
          <p:nvPr/>
        </p:nvSpPr>
        <p:spPr>
          <a:xfrm>
            <a:off x="521208" y="749808"/>
            <a:ext cx="9875520" cy="228600"/>
          </a:xfrm>
          <a:prstGeom prst="rect">
            <a:avLst/>
          </a:prstGeom>
          <a:noFill/>
          <a:ln/>
        </p:spPr>
        <p:txBody>
          <a:bodyPr wrap="square" lIns="254" tIns="254" rIns="254" bIns="254" rtlCol="0" anchor="ctr"/>
          <a:lstStyle/>
          <a:p>
            <a:pPr indent="0" marL="0">
              <a:buNone/>
            </a:pPr>
            <a:r>
              <a:rPr lang="en-US" sz="1050" dirty="0">
                <a:solidFill>
                  <a:srgbClr val="5E6B75"/>
                </a:solidFill>
              </a:rPr>
              <a:t>A safe natural-language layer over verified analytics data</a:t>
            </a:r>
            <a:endParaRPr lang="en-US" sz="1050" dirty="0"/>
          </a:p>
        </p:txBody>
      </p:sp>
      <p:sp>
        <p:nvSpPr>
          <p:cNvPr id="4" name="Shape 2"/>
          <p:cNvSpPr/>
          <p:nvPr/>
        </p:nvSpPr>
        <p:spPr>
          <a:xfrm>
            <a:off x="594360" y="1097280"/>
            <a:ext cx="5715000" cy="4572000"/>
          </a:xfrm>
          <a:prstGeom prst="roundRect">
            <a:avLst>
              <a:gd name="adj" fmla="val 2000"/>
            </a:avLst>
          </a:prstGeom>
          <a:solidFill>
            <a:srgbClr val="FFFFFF"/>
          </a:solidFill>
          <a:ln w="17780">
            <a:solidFill>
              <a:srgbClr val="7367F0"/>
            </a:solidFill>
            <a:prstDash val="solid"/>
          </a:ln>
        </p:spPr>
      </p:sp>
      <p:pic>
        <p:nvPicPr>
          <p:cNvPr id="30" name="assistant_query_history" descr="Source: reports/presentation_assets/assistant_query_history.png"/>
          <p:cNvPicPr>
            <a:picLocks noChangeAspect="1"/>
          </p:cNvPicPr>
          <p:nvPr/>
        </p:nvPicPr>
        <p:blipFill>
          <a:blip r:embed="rIdUfaAsset1"/>
          <a:stretch>
            <a:fillRect/>
          </a:stretch>
        </p:blipFill>
        <p:spPr>
          <a:xfrm>
            <a:off x="667360" y="1449599"/>
            <a:ext cx="5569000" cy="3867361"/>
          </a:xfrm>
          <a:prstGeom prst="rect">
            <a:avLst/>
          </a:prstGeom>
        </p:spPr>
      </p:pic>
      <p:sp>
        <p:nvSpPr>
          <p:cNvPr id="8" name="Shape 6"/>
          <p:cNvSpPr/>
          <p:nvPr/>
        </p:nvSpPr>
        <p:spPr>
          <a:xfrm>
            <a:off x="6629400" y="1097280"/>
            <a:ext cx="4892040" cy="4572000"/>
          </a:xfrm>
          <a:prstGeom prst="roundRect">
            <a:avLst>
              <a:gd name="adj" fmla="val 2000"/>
            </a:avLst>
          </a:prstGeom>
          <a:solidFill>
            <a:srgbClr val="FFFFFF"/>
          </a:solidFill>
          <a:ln w="12700">
            <a:solidFill>
              <a:srgbClr val="CFE2F3"/>
            </a:solidFill>
            <a:prstDash val="solid"/>
          </a:ln>
        </p:spPr>
      </p:sp>
      <p:sp>
        <p:nvSpPr>
          <p:cNvPr id="9" name="Text 7"/>
          <p:cNvSpPr/>
          <p:nvPr/>
        </p:nvSpPr>
        <p:spPr>
          <a:xfrm>
            <a:off x="6903720" y="1371600"/>
            <a:ext cx="4343400" cy="256032"/>
          </a:xfrm>
          <a:prstGeom prst="rect">
            <a:avLst/>
          </a:prstGeom>
          <a:noFill/>
          <a:ln/>
        </p:spPr>
        <p:txBody>
          <a:bodyPr wrap="square" lIns="254" tIns="254" rIns="254" bIns="254" rtlCol="0" anchor="ctr"/>
          <a:lstStyle/>
          <a:p>
            <a:pPr indent="0" marL="0">
              <a:buNone/>
            </a:pPr>
            <a:r>
              <a:rPr lang="en-US" sz="1600" b="1" dirty="0">
                <a:solidFill>
                  <a:srgbClr val="0B2C4D"/>
                </a:solidFill>
              </a:rPr>
              <a:t>Live questions to ask</a:t>
            </a:r>
            <a:endParaRPr lang="en-US" sz="1600" dirty="0"/>
          </a:p>
        </p:txBody>
      </p:sp>
      <p:sp>
        <p:nvSpPr>
          <p:cNvPr id="10" name="Shape 8"/>
          <p:cNvSpPr/>
          <p:nvPr/>
        </p:nvSpPr>
        <p:spPr>
          <a:xfrm>
            <a:off x="6903720" y="1901952"/>
            <a:ext cx="4297680" cy="438912"/>
          </a:xfrm>
          <a:prstGeom prst="roundRect">
            <a:avLst>
              <a:gd name="adj" fmla="val 10417"/>
            </a:avLst>
          </a:prstGeom>
          <a:solidFill>
            <a:srgbClr val="F0EFFF"/>
          </a:solidFill>
          <a:ln w="12700">
            <a:solidFill>
              <a:srgbClr val="FFFFFF">
                <a:alpha val="0"/>
              </a:srgbClr>
            </a:solidFill>
            <a:prstDash val="solid"/>
          </a:ln>
        </p:spPr>
      </p:sp>
      <p:sp>
        <p:nvSpPr>
          <p:cNvPr id="11" name="Text 9"/>
          <p:cNvSpPr/>
          <p:nvPr/>
        </p:nvSpPr>
        <p:spPr>
          <a:xfrm>
            <a:off x="7077456" y="2011680"/>
            <a:ext cx="3977640" cy="182880"/>
          </a:xfrm>
          <a:prstGeom prst="rect">
            <a:avLst/>
          </a:prstGeom>
          <a:noFill/>
          <a:ln/>
        </p:spPr>
        <p:txBody>
          <a:bodyPr wrap="square" lIns="127" tIns="127" rIns="127" bIns="127" rtlCol="0" anchor="ctr">
            <a:normAutofit/>
          </a:bodyPr>
          <a:lstStyle/>
          <a:p>
            <a:pPr indent="0" marL="0">
              <a:buNone/>
            </a:pPr>
            <a:r>
              <a:rPr lang="en-US" sz="850" b="1" dirty="0">
                <a:solidFill>
                  <a:srgbClr val="192B3A"/>
                </a:solidFill>
              </a:rPr>
              <a:t>What are the top 5 pickup zones?</a:t>
            </a:r>
            <a:endParaRPr lang="en-US" sz="850" dirty="0"/>
          </a:p>
        </p:txBody>
      </p:sp>
      <p:sp>
        <p:nvSpPr>
          <p:cNvPr id="12" name="Shape 10"/>
          <p:cNvSpPr/>
          <p:nvPr/>
        </p:nvSpPr>
        <p:spPr>
          <a:xfrm>
            <a:off x="6903720" y="2578608"/>
            <a:ext cx="4297680" cy="438912"/>
          </a:xfrm>
          <a:prstGeom prst="roundRect">
            <a:avLst>
              <a:gd name="adj" fmla="val 10417"/>
            </a:avLst>
          </a:prstGeom>
          <a:solidFill>
            <a:srgbClr val="F0EFFF"/>
          </a:solidFill>
          <a:ln w="12700">
            <a:solidFill>
              <a:srgbClr val="FFFFFF">
                <a:alpha val="0"/>
              </a:srgbClr>
            </a:solidFill>
            <a:prstDash val="solid"/>
          </a:ln>
        </p:spPr>
      </p:sp>
      <p:sp>
        <p:nvSpPr>
          <p:cNvPr id="13" name="Text 11"/>
          <p:cNvSpPr/>
          <p:nvPr/>
        </p:nvSpPr>
        <p:spPr>
          <a:xfrm>
            <a:off x="7077456" y="2688336"/>
            <a:ext cx="3977640" cy="182880"/>
          </a:xfrm>
          <a:prstGeom prst="rect">
            <a:avLst/>
          </a:prstGeom>
          <a:noFill/>
          <a:ln/>
        </p:spPr>
        <p:txBody>
          <a:bodyPr wrap="square" lIns="127" tIns="127" rIns="127" bIns="127" rtlCol="0" anchor="ctr">
            <a:normAutofit/>
          </a:bodyPr>
          <a:lstStyle/>
          <a:p>
            <a:pPr indent="0" marL="0">
              <a:buNone/>
            </a:pPr>
            <a:r>
              <a:rPr lang="en-US" sz="850" b="1" dirty="0">
                <a:solidFill>
                  <a:srgbClr val="192B3A"/>
                </a:solidFill>
              </a:rPr>
              <a:t>Which forecasting model should we use for 24 hours?</a:t>
            </a:r>
            <a:endParaRPr lang="en-US" sz="850" dirty="0"/>
          </a:p>
        </p:txBody>
      </p:sp>
      <p:sp>
        <p:nvSpPr>
          <p:cNvPr id="14" name="Shape 12"/>
          <p:cNvSpPr/>
          <p:nvPr/>
        </p:nvSpPr>
        <p:spPr>
          <a:xfrm>
            <a:off x="6903720" y="3255264"/>
            <a:ext cx="4297680" cy="438912"/>
          </a:xfrm>
          <a:prstGeom prst="roundRect">
            <a:avLst>
              <a:gd name="adj" fmla="val 10417"/>
            </a:avLst>
          </a:prstGeom>
          <a:solidFill>
            <a:srgbClr val="DDF7F5"/>
          </a:solidFill>
          <a:ln w="12700">
            <a:solidFill>
              <a:srgbClr val="FFFFFF">
                <a:alpha val="0"/>
              </a:srgbClr>
            </a:solidFill>
            <a:prstDash val="solid"/>
          </a:ln>
        </p:spPr>
      </p:sp>
      <p:sp>
        <p:nvSpPr>
          <p:cNvPr id="15" name="Text 13"/>
          <p:cNvSpPr/>
          <p:nvPr/>
        </p:nvSpPr>
        <p:spPr>
          <a:xfrm>
            <a:off x="7077456" y="3364992"/>
            <a:ext cx="3977640" cy="182880"/>
          </a:xfrm>
          <a:prstGeom prst="rect">
            <a:avLst/>
          </a:prstGeom>
          <a:noFill/>
          <a:ln/>
        </p:spPr>
        <p:txBody>
          <a:bodyPr wrap="square" lIns="127" tIns="127" rIns="127" bIns="127" rtlCol="0" anchor="ctr">
            <a:normAutofit/>
          </a:bodyPr>
          <a:lstStyle/>
          <a:p>
            <a:pPr indent="0" marL="0">
              <a:buNone/>
            </a:pPr>
            <a:r>
              <a:rPr lang="en-US" sz="850" b="1" dirty="0">
                <a:solidFill>
                  <a:srgbClr val="192B3A"/>
                </a:solidFill>
              </a:rPr>
              <a:t>What is the 24-hour forecast for JFK Airport?</a:t>
            </a:r>
            <a:endParaRPr lang="en-US" sz="850" dirty="0"/>
          </a:p>
        </p:txBody>
      </p:sp>
      <p:sp>
        <p:nvSpPr>
          <p:cNvPr id="16" name="Shape 14"/>
          <p:cNvSpPr/>
          <p:nvPr/>
        </p:nvSpPr>
        <p:spPr>
          <a:xfrm>
            <a:off x="6903720" y="3931920"/>
            <a:ext cx="4297680" cy="438912"/>
          </a:xfrm>
          <a:prstGeom prst="roundRect">
            <a:avLst>
              <a:gd name="adj" fmla="val 10417"/>
            </a:avLst>
          </a:prstGeom>
          <a:solidFill>
            <a:srgbClr val="DDF7F5"/>
          </a:solidFill>
          <a:ln w="12700">
            <a:solidFill>
              <a:srgbClr val="FFFFFF">
                <a:alpha val="0"/>
              </a:srgbClr>
            </a:solidFill>
            <a:prstDash val="solid"/>
          </a:ln>
        </p:spPr>
      </p:sp>
      <p:sp>
        <p:nvSpPr>
          <p:cNvPr id="17" name="Text 15"/>
          <p:cNvSpPr/>
          <p:nvPr/>
        </p:nvSpPr>
        <p:spPr>
          <a:xfrm>
            <a:off x="7077456" y="4041648"/>
            <a:ext cx="3977640" cy="182880"/>
          </a:xfrm>
          <a:prstGeom prst="rect">
            <a:avLst/>
          </a:prstGeom>
          <a:noFill/>
          <a:ln/>
        </p:spPr>
        <p:txBody>
          <a:bodyPr wrap="square" lIns="127" tIns="127" rIns="127" bIns="127" rtlCol="0" anchor="ctr">
            <a:normAutofit/>
          </a:bodyPr>
          <a:lstStyle/>
          <a:p>
            <a:pPr indent="0" marL="0">
              <a:buNone/>
            </a:pPr>
            <a:r>
              <a:rPr lang="en-US" sz="850" b="1" dirty="0">
                <a:solidFill>
                  <a:srgbClr val="192B3A"/>
                </a:solidFill>
              </a:rPr>
              <a:t>What should fleet managers do during evening peaks?</a:t>
            </a:r>
            <a:endParaRPr lang="en-US" sz="850" dirty="0"/>
          </a:p>
        </p:txBody>
      </p:sp>
      <p:sp>
        <p:nvSpPr>
          <p:cNvPr id="18" name="Shape 16"/>
          <p:cNvSpPr/>
          <p:nvPr/>
        </p:nvSpPr>
        <p:spPr>
          <a:xfrm>
            <a:off x="6903720" y="4736592"/>
            <a:ext cx="4297680" cy="502920"/>
          </a:xfrm>
          <a:prstGeom prst="roundRect">
            <a:avLst>
              <a:gd name="adj" fmla="val 10909"/>
            </a:avLst>
          </a:prstGeom>
          <a:solidFill>
            <a:srgbClr val="FFF2D9"/>
          </a:solidFill>
          <a:ln w="12700">
            <a:solidFill>
              <a:srgbClr val="FFF2D9"/>
            </a:solidFill>
            <a:prstDash val="solid"/>
          </a:ln>
        </p:spPr>
      </p:sp>
      <p:sp>
        <p:nvSpPr>
          <p:cNvPr id="19" name="Text 17"/>
          <p:cNvSpPr/>
          <p:nvPr/>
        </p:nvSpPr>
        <p:spPr>
          <a:xfrm>
            <a:off x="7059168" y="4882896"/>
            <a:ext cx="3977640" cy="164592"/>
          </a:xfrm>
          <a:prstGeom prst="rect">
            <a:avLst/>
          </a:prstGeom>
          <a:noFill/>
          <a:ln/>
        </p:spPr>
        <p:txBody>
          <a:bodyPr wrap="square" lIns="127" tIns="127" rIns="127" bIns="127" rtlCol="0" anchor="ctr">
            <a:normAutofit/>
          </a:bodyPr>
          <a:lstStyle/>
          <a:p>
            <a:pPr algn="ctr" indent="0" marL="0">
              <a:buNone/>
            </a:pPr>
            <a:r>
              <a:rPr lang="en-US" sz="720" b="1" dirty="0">
                <a:solidFill>
                  <a:srgbClr val="192B3A"/>
                </a:solidFill>
              </a:rPr>
              <a:t>Deterministic routing • Verified data only • No arbitrary Python or SQL</a:t>
            </a:r>
            <a:endParaRPr lang="en-US" sz="720" dirty="0"/>
          </a:p>
        </p:txBody>
      </p:sp>
      <p:sp>
        <p:nvSpPr>
          <p:cNvPr id="20" name="Text 18"/>
          <p:cNvSpPr/>
          <p:nvPr/>
        </p:nvSpPr>
        <p:spPr>
          <a:xfrm>
            <a:off x="6400800" y="6601968"/>
            <a:ext cx="4572000" cy="164592"/>
          </a:xfrm>
          <a:prstGeom prst="rect">
            <a:avLst/>
          </a:prstGeom>
          <a:noFill/>
          <a:ln/>
        </p:spPr>
        <p:txBody>
          <a:bodyPr wrap="square" lIns="0" tIns="0" rIns="0" bIns="0" rtlCol="0" anchor="ctr"/>
          <a:lstStyle/>
          <a:p>
            <a:pPr algn="r" indent="0" marL="0">
              <a:buNone/>
            </a:pPr>
            <a:r>
              <a:rPr lang="en-US" sz="650" dirty="0">
                <a:solidFill>
                  <a:srgbClr val="5E6B75"/>
                </a:solidFill>
              </a:rPr>
              <a:t>3:00–3:40</a:t>
            </a:r>
            <a:endParaRPr lang="en-US" sz="650" dirty="0"/>
          </a:p>
        </p:txBody>
      </p:sp>
      <p:sp>
        <p:nvSpPr>
          <p:cNvPr id="21" name="Shape 19"/>
          <p:cNvSpPr/>
          <p:nvPr/>
        </p:nvSpPr>
        <p:spPr>
          <a:xfrm>
            <a:off x="566928" y="6263640"/>
            <a:ext cx="109728" cy="109728"/>
          </a:xfrm>
          <a:prstGeom prst="ellipse">
            <a:avLst/>
          </a:prstGeom>
          <a:solidFill>
            <a:srgbClr val="D5E6F2"/>
          </a:solidFill>
          <a:ln w="12700">
            <a:solidFill>
              <a:srgbClr val="D5E6F2"/>
            </a:solidFill>
            <a:prstDash val="solid"/>
          </a:ln>
        </p:spPr>
      </p:sp>
      <p:sp>
        <p:nvSpPr>
          <p:cNvPr id="22" name="Shape 20"/>
          <p:cNvSpPr/>
          <p:nvPr/>
        </p:nvSpPr>
        <p:spPr>
          <a:xfrm>
            <a:off x="1051560" y="6263640"/>
            <a:ext cx="109728" cy="109728"/>
          </a:xfrm>
          <a:prstGeom prst="ellipse">
            <a:avLst/>
          </a:prstGeom>
          <a:solidFill>
            <a:srgbClr val="D5E6F2"/>
          </a:solidFill>
          <a:ln w="12700">
            <a:solidFill>
              <a:srgbClr val="D5E6F2"/>
            </a:solidFill>
            <a:prstDash val="solid"/>
          </a:ln>
        </p:spPr>
      </p:sp>
      <p:sp>
        <p:nvSpPr>
          <p:cNvPr id="23" name="Shape 21"/>
          <p:cNvSpPr/>
          <p:nvPr/>
        </p:nvSpPr>
        <p:spPr>
          <a:xfrm>
            <a:off x="1536192" y="6263640"/>
            <a:ext cx="109728" cy="109728"/>
          </a:xfrm>
          <a:prstGeom prst="ellipse">
            <a:avLst/>
          </a:prstGeom>
          <a:solidFill>
            <a:srgbClr val="D5E6F2"/>
          </a:solidFill>
          <a:ln w="12700">
            <a:solidFill>
              <a:srgbClr val="D5E6F2"/>
            </a:solidFill>
            <a:prstDash val="solid"/>
          </a:ln>
        </p:spPr>
      </p:sp>
      <p:sp>
        <p:nvSpPr>
          <p:cNvPr id="24" name="Shape 22"/>
          <p:cNvSpPr/>
          <p:nvPr/>
        </p:nvSpPr>
        <p:spPr>
          <a:xfrm>
            <a:off x="2020824" y="6263640"/>
            <a:ext cx="109728" cy="109728"/>
          </a:xfrm>
          <a:prstGeom prst="ellipse">
            <a:avLst/>
          </a:prstGeom>
          <a:solidFill>
            <a:srgbClr val="D5E6F2"/>
          </a:solidFill>
          <a:ln w="12700">
            <a:solidFill>
              <a:srgbClr val="D5E6F2"/>
            </a:solidFill>
            <a:prstDash val="solid"/>
          </a:ln>
        </p:spPr>
      </p:sp>
      <p:sp>
        <p:nvSpPr>
          <p:cNvPr id="25" name="Shape 23"/>
          <p:cNvSpPr/>
          <p:nvPr/>
        </p:nvSpPr>
        <p:spPr>
          <a:xfrm>
            <a:off x="2505456" y="6263640"/>
            <a:ext cx="109728" cy="109728"/>
          </a:xfrm>
          <a:prstGeom prst="ellipse">
            <a:avLst/>
          </a:prstGeom>
          <a:solidFill>
            <a:srgbClr val="D5E6F2"/>
          </a:solidFill>
          <a:ln w="12700">
            <a:solidFill>
              <a:srgbClr val="D5E6F2"/>
            </a:solidFill>
            <a:prstDash val="solid"/>
          </a:ln>
        </p:spPr>
      </p:sp>
      <p:sp>
        <p:nvSpPr>
          <p:cNvPr id="26" name="Shape 24"/>
          <p:cNvSpPr/>
          <p:nvPr/>
        </p:nvSpPr>
        <p:spPr>
          <a:xfrm>
            <a:off x="2990088" y="6263640"/>
            <a:ext cx="109728" cy="109728"/>
          </a:xfrm>
          <a:prstGeom prst="ellipse">
            <a:avLst/>
          </a:prstGeom>
          <a:solidFill>
            <a:srgbClr val="D5E6F2"/>
          </a:solidFill>
          <a:ln w="12700">
            <a:solidFill>
              <a:srgbClr val="D5E6F2"/>
            </a:solidFill>
            <a:prstDash val="solid"/>
          </a:ln>
        </p:spPr>
      </p:sp>
      <p:sp>
        <p:nvSpPr>
          <p:cNvPr id="27" name="Shape 25"/>
          <p:cNvSpPr/>
          <p:nvPr/>
        </p:nvSpPr>
        <p:spPr>
          <a:xfrm>
            <a:off x="3474720" y="6263640"/>
            <a:ext cx="109728" cy="109728"/>
          </a:xfrm>
          <a:prstGeom prst="ellipse">
            <a:avLst/>
          </a:prstGeom>
          <a:solidFill>
            <a:srgbClr val="13A6A6"/>
          </a:solidFill>
          <a:ln w="12700">
            <a:solidFill>
              <a:srgbClr val="13A6A6"/>
            </a:solidFill>
            <a:prstDash val="solid"/>
          </a:ln>
        </p:spPr>
      </p:sp>
      <p:sp>
        <p:nvSpPr>
          <p:cNvPr id="28" name="Shape 26"/>
          <p:cNvSpPr/>
          <p:nvPr/>
        </p:nvSpPr>
        <p:spPr>
          <a:xfrm>
            <a:off x="3959352" y="6263640"/>
            <a:ext cx="109728" cy="109728"/>
          </a:xfrm>
          <a:prstGeom prst="ellipse">
            <a:avLst/>
          </a:prstGeom>
          <a:solidFill>
            <a:srgbClr val="D5E6F2"/>
          </a:solidFill>
          <a:ln w="12700">
            <a:solidFill>
              <a:srgbClr val="D5E6F2"/>
            </a:solidFill>
            <a:prstDash val="solid"/>
          </a:ln>
        </p:spPr>
      </p:sp>
      <p:sp>
        <p:nvSpPr>
          <p:cNvPr id="29" name="Shape 27"/>
          <p:cNvSpPr/>
          <p:nvPr/>
        </p:nvSpPr>
        <p:spPr>
          <a:xfrm>
            <a:off x="4443984" y="6263640"/>
            <a:ext cx="109728" cy="109728"/>
          </a:xfrm>
          <a:prstGeom prst="ellipse">
            <a:avLst/>
          </a:prstGeom>
          <a:solidFill>
            <a:srgbClr val="D5E6F2"/>
          </a:solidFill>
          <a:ln w="12700">
            <a:solidFill>
              <a:srgbClr val="D5E6F2"/>
            </a:solidFill>
            <a:prstDash val="solid"/>
          </a:ln>
        </p:spPr>
      </p:sp>
      <p:sp>
        <p:nvSpPr>
          <p:cNvPr id="25" name="Slide Number Placeholder 0"/>
          <p:cNvSpPr>
            <a:spLocks noGrp="1"/>
          </p:cNvSpPr>
          <p:nvPr>
            <p:ph type="sldNum" sz="quarter" idx="4294967295"/>
          </p:nvPr>
        </p:nvSpPr>
        <p:spPr>
          <a:xfrm>
            <a:off x="11228832" y="6565392"/>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B7B8B"/>
                </a:solidFill>
                <a:latin typeface="Aptos"/>
                <a:ea typeface="Aptos"/>
                <a:cs typeface="Aptos"/>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02920" y="274320"/>
            <a:ext cx="7589520" cy="438912"/>
          </a:xfrm>
          <a:prstGeom prst="rect">
            <a:avLst/>
          </a:prstGeom>
          <a:noFill/>
          <a:ln/>
        </p:spPr>
        <p:txBody>
          <a:bodyPr wrap="square" lIns="254" tIns="254" rIns="254" bIns="254" rtlCol="0" anchor="ctr">
            <a:normAutofit/>
          </a:bodyPr>
          <a:lstStyle/>
          <a:p>
            <a:pPr indent="0" marL="0">
              <a:buNone/>
            </a:pPr>
            <a:r>
              <a:rPr lang="en-US" sz="2400" b="1" dirty="0">
                <a:solidFill>
                  <a:srgbClr val="0B2C4D"/>
                </a:solidFill>
                <a:latin typeface="Aptos Display" pitchFamily="34" charset="0"/>
                <a:ea typeface="Aptos Display" pitchFamily="34" charset="-122"/>
                <a:cs typeface="Aptos Display" pitchFamily="34" charset="-120"/>
              </a:rPr>
              <a:t>End-to-End Solution Architecture</a:t>
            </a:r>
            <a:endParaRPr lang="en-US" sz="2400" dirty="0"/>
          </a:p>
        </p:txBody>
      </p:sp>
      <p:sp>
        <p:nvSpPr>
          <p:cNvPr id="3" name="Text 1"/>
          <p:cNvSpPr/>
          <p:nvPr/>
        </p:nvSpPr>
        <p:spPr>
          <a:xfrm>
            <a:off x="521208" y="749808"/>
            <a:ext cx="9875520" cy="228600"/>
          </a:xfrm>
          <a:prstGeom prst="rect">
            <a:avLst/>
          </a:prstGeom>
          <a:noFill/>
          <a:ln/>
        </p:spPr>
        <p:txBody>
          <a:bodyPr wrap="square" lIns="254" tIns="254" rIns="254" bIns="254" rtlCol="0" anchor="ctr"/>
          <a:lstStyle/>
          <a:p>
            <a:pPr indent="0" marL="0">
              <a:buNone/>
            </a:pPr>
            <a:r>
              <a:rPr lang="en-US" sz="1050" dirty="0">
                <a:solidFill>
                  <a:srgbClr val="5E6B75"/>
                </a:solidFill>
              </a:rPr>
              <a:t>Governed data, analytics, delivery layers, and operational decisions</a:t>
            </a:r>
            <a:endParaRPr lang="en-US" sz="1050" dirty="0"/>
          </a:p>
        </p:txBody>
      </p:sp>
      <p:sp>
        <p:nvSpPr>
          <p:cNvPr id="4" name="Shape 2"/>
          <p:cNvSpPr/>
          <p:nvPr/>
        </p:nvSpPr>
        <p:spPr>
          <a:xfrm>
            <a:off x="594360" y="1051560"/>
            <a:ext cx="10972800" cy="4800600"/>
          </a:xfrm>
          <a:prstGeom prst="roundRect">
            <a:avLst>
              <a:gd name="adj" fmla="val 1905"/>
            </a:avLst>
          </a:prstGeom>
          <a:solidFill>
            <a:srgbClr val="FFFFFF"/>
          </a:solidFill>
          <a:ln w="17780">
            <a:solidFill>
              <a:srgbClr val="2578D5"/>
            </a:solidFill>
            <a:prstDash val="solid"/>
          </a:ln>
        </p:spPr>
      </p:sp>
      <p:pic>
        <p:nvPicPr>
          <p:cNvPr id="26" name="MergeConflicts_Architecture_Diagram" descr="Source: reports/figures/MergeConflicts_Architecture_Diagram.png"/>
          <p:cNvPicPr>
            <a:picLocks noChangeAspect="1"/>
          </p:cNvPicPr>
          <p:nvPr/>
        </p:nvPicPr>
        <p:blipFill>
          <a:blip r:embed="rIdUfaAsset1"/>
          <a:stretch>
            <a:fillRect/>
          </a:stretch>
        </p:blipFill>
        <p:spPr>
          <a:xfrm>
            <a:off x="1968000" y="1124560"/>
            <a:ext cx="8225520" cy="4654600"/>
          </a:xfrm>
          <a:prstGeom prst="rect">
            <a:avLst/>
          </a:prstGeom>
        </p:spPr>
      </p:pic>
      <p:sp>
        <p:nvSpPr>
          <p:cNvPr id="8" name="Text 6"/>
          <p:cNvSpPr/>
          <p:nvPr/>
        </p:nvSpPr>
        <p:spPr>
          <a:xfrm>
            <a:off x="685800" y="5971032"/>
            <a:ext cx="10789920" cy="201168"/>
          </a:xfrm>
          <a:prstGeom prst="rect">
            <a:avLst/>
          </a:prstGeom>
          <a:noFill/>
          <a:ln/>
        </p:spPr>
        <p:txBody>
          <a:bodyPr wrap="square" lIns="127" tIns="127" rIns="127" bIns="127" rtlCol="0" anchor="ctr"/>
          <a:lstStyle/>
          <a:p>
            <a:pPr algn="ctr" indent="0" marL="0">
              <a:buNone/>
            </a:pPr>
            <a:r>
              <a:rPr lang="en-US" sz="1050" b="1" dirty="0">
                <a:solidFill>
                  <a:srgbClr val="13A6A6"/>
                </a:solidFill>
              </a:rPr>
              <a:t>Staging • Dispatch • Staffing • Repositioning • Monitoring</a:t>
            </a:r>
            <a:endParaRPr lang="en-US" sz="1050" dirty="0"/>
          </a:p>
        </p:txBody>
      </p:sp>
      <p:sp>
        <p:nvSpPr>
          <p:cNvPr id="9" name="Text 7"/>
          <p:cNvSpPr/>
          <p:nvPr/>
        </p:nvSpPr>
        <p:spPr>
          <a:xfrm>
            <a:off x="6400800" y="6601968"/>
            <a:ext cx="4572000" cy="164592"/>
          </a:xfrm>
          <a:prstGeom prst="rect">
            <a:avLst/>
          </a:prstGeom>
          <a:noFill/>
          <a:ln/>
        </p:spPr>
        <p:txBody>
          <a:bodyPr wrap="square" lIns="0" tIns="0" rIns="0" bIns="0" rtlCol="0" anchor="ctr"/>
          <a:lstStyle/>
          <a:p>
            <a:pPr algn="r" indent="0" marL="0">
              <a:buNone/>
            </a:pPr>
            <a:r>
              <a:rPr lang="en-US" sz="650" dirty="0">
                <a:solidFill>
                  <a:srgbClr val="5E6B75"/>
                </a:solidFill>
              </a:rPr>
              <a:t>3:40–4:05</a:t>
            </a:r>
            <a:endParaRPr lang="en-US" sz="650" dirty="0"/>
          </a:p>
        </p:txBody>
      </p:sp>
      <p:sp>
        <p:nvSpPr>
          <p:cNvPr id="10" name="Shape 8"/>
          <p:cNvSpPr/>
          <p:nvPr/>
        </p:nvSpPr>
        <p:spPr>
          <a:xfrm>
            <a:off x="566928" y="6263640"/>
            <a:ext cx="109728" cy="109728"/>
          </a:xfrm>
          <a:prstGeom prst="ellipse">
            <a:avLst/>
          </a:prstGeom>
          <a:solidFill>
            <a:srgbClr val="D5E6F2"/>
          </a:solidFill>
          <a:ln w="12700">
            <a:solidFill>
              <a:srgbClr val="D5E6F2"/>
            </a:solidFill>
            <a:prstDash val="solid"/>
          </a:ln>
        </p:spPr>
      </p:sp>
      <p:sp>
        <p:nvSpPr>
          <p:cNvPr id="11" name="Shape 9"/>
          <p:cNvSpPr/>
          <p:nvPr/>
        </p:nvSpPr>
        <p:spPr>
          <a:xfrm>
            <a:off x="1051560" y="6263640"/>
            <a:ext cx="109728" cy="109728"/>
          </a:xfrm>
          <a:prstGeom prst="ellipse">
            <a:avLst/>
          </a:prstGeom>
          <a:solidFill>
            <a:srgbClr val="D5E6F2"/>
          </a:solidFill>
          <a:ln w="12700">
            <a:solidFill>
              <a:srgbClr val="D5E6F2"/>
            </a:solidFill>
            <a:prstDash val="solid"/>
          </a:ln>
        </p:spPr>
      </p:sp>
      <p:sp>
        <p:nvSpPr>
          <p:cNvPr id="12" name="Shape 10"/>
          <p:cNvSpPr/>
          <p:nvPr/>
        </p:nvSpPr>
        <p:spPr>
          <a:xfrm>
            <a:off x="1536192" y="6263640"/>
            <a:ext cx="109728" cy="109728"/>
          </a:xfrm>
          <a:prstGeom prst="ellipse">
            <a:avLst/>
          </a:prstGeom>
          <a:solidFill>
            <a:srgbClr val="D5E6F2"/>
          </a:solidFill>
          <a:ln w="12700">
            <a:solidFill>
              <a:srgbClr val="D5E6F2"/>
            </a:solidFill>
            <a:prstDash val="solid"/>
          </a:ln>
        </p:spPr>
      </p:sp>
      <p:sp>
        <p:nvSpPr>
          <p:cNvPr id="13" name="Shape 11"/>
          <p:cNvSpPr/>
          <p:nvPr/>
        </p:nvSpPr>
        <p:spPr>
          <a:xfrm>
            <a:off x="2020824" y="6263640"/>
            <a:ext cx="109728" cy="109728"/>
          </a:xfrm>
          <a:prstGeom prst="ellipse">
            <a:avLst/>
          </a:prstGeom>
          <a:solidFill>
            <a:srgbClr val="D5E6F2"/>
          </a:solidFill>
          <a:ln w="12700">
            <a:solidFill>
              <a:srgbClr val="D5E6F2"/>
            </a:solidFill>
            <a:prstDash val="solid"/>
          </a:ln>
        </p:spPr>
      </p:sp>
      <p:sp>
        <p:nvSpPr>
          <p:cNvPr id="14" name="Shape 12"/>
          <p:cNvSpPr/>
          <p:nvPr/>
        </p:nvSpPr>
        <p:spPr>
          <a:xfrm>
            <a:off x="2505456" y="6263640"/>
            <a:ext cx="109728" cy="109728"/>
          </a:xfrm>
          <a:prstGeom prst="ellipse">
            <a:avLst/>
          </a:prstGeom>
          <a:solidFill>
            <a:srgbClr val="D5E6F2"/>
          </a:solidFill>
          <a:ln w="12700">
            <a:solidFill>
              <a:srgbClr val="D5E6F2"/>
            </a:solidFill>
            <a:prstDash val="solid"/>
          </a:ln>
        </p:spPr>
      </p:sp>
      <p:sp>
        <p:nvSpPr>
          <p:cNvPr id="15" name="Shape 13"/>
          <p:cNvSpPr/>
          <p:nvPr/>
        </p:nvSpPr>
        <p:spPr>
          <a:xfrm>
            <a:off x="2990088" y="6263640"/>
            <a:ext cx="109728" cy="109728"/>
          </a:xfrm>
          <a:prstGeom prst="ellipse">
            <a:avLst/>
          </a:prstGeom>
          <a:solidFill>
            <a:srgbClr val="D5E6F2"/>
          </a:solidFill>
          <a:ln w="12700">
            <a:solidFill>
              <a:srgbClr val="D5E6F2"/>
            </a:solidFill>
            <a:prstDash val="solid"/>
          </a:ln>
        </p:spPr>
      </p:sp>
      <p:sp>
        <p:nvSpPr>
          <p:cNvPr id="16" name="Shape 14"/>
          <p:cNvSpPr/>
          <p:nvPr/>
        </p:nvSpPr>
        <p:spPr>
          <a:xfrm>
            <a:off x="3474720" y="6263640"/>
            <a:ext cx="109728" cy="109728"/>
          </a:xfrm>
          <a:prstGeom prst="ellipse">
            <a:avLst/>
          </a:prstGeom>
          <a:solidFill>
            <a:srgbClr val="D5E6F2"/>
          </a:solidFill>
          <a:ln w="12700">
            <a:solidFill>
              <a:srgbClr val="D5E6F2"/>
            </a:solidFill>
            <a:prstDash val="solid"/>
          </a:ln>
        </p:spPr>
      </p:sp>
      <p:sp>
        <p:nvSpPr>
          <p:cNvPr id="17" name="Shape 15"/>
          <p:cNvSpPr/>
          <p:nvPr/>
        </p:nvSpPr>
        <p:spPr>
          <a:xfrm>
            <a:off x="3959352" y="6263640"/>
            <a:ext cx="109728" cy="109728"/>
          </a:xfrm>
          <a:prstGeom prst="ellipse">
            <a:avLst/>
          </a:prstGeom>
          <a:solidFill>
            <a:srgbClr val="13A6A6"/>
          </a:solidFill>
          <a:ln w="12700">
            <a:solidFill>
              <a:srgbClr val="13A6A6"/>
            </a:solidFill>
            <a:prstDash val="solid"/>
          </a:ln>
        </p:spPr>
      </p:sp>
      <p:sp>
        <p:nvSpPr>
          <p:cNvPr id="18" name="Shape 16"/>
          <p:cNvSpPr/>
          <p:nvPr/>
        </p:nvSpPr>
        <p:spPr>
          <a:xfrm>
            <a:off x="4443984" y="6263640"/>
            <a:ext cx="109728" cy="109728"/>
          </a:xfrm>
          <a:prstGeom prst="ellipse">
            <a:avLst/>
          </a:prstGeom>
          <a:solidFill>
            <a:srgbClr val="D5E6F2"/>
          </a:solidFill>
          <a:ln w="12700">
            <a:solidFill>
              <a:srgbClr val="D5E6F2"/>
            </a:solidFill>
            <a:prstDash val="solid"/>
          </a:ln>
        </p:spPr>
      </p:sp>
      <p:sp>
        <p:nvSpPr>
          <p:cNvPr id="25" name="Slide Number Placeholder 0"/>
          <p:cNvSpPr>
            <a:spLocks noGrp="1"/>
          </p:cNvSpPr>
          <p:nvPr>
            <p:ph type="sldNum" sz="quarter" idx="4294967295"/>
          </p:nvPr>
        </p:nvSpPr>
        <p:spPr>
          <a:xfrm>
            <a:off x="11228832" y="6565392"/>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B7B8B"/>
                </a:solidFill>
                <a:latin typeface="Aptos"/>
                <a:ea typeface="Aptos"/>
                <a:cs typeface="Aptos"/>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02920" y="274320"/>
            <a:ext cx="7589520" cy="438912"/>
          </a:xfrm>
          <a:prstGeom prst="rect">
            <a:avLst/>
          </a:prstGeom>
          <a:noFill/>
          <a:ln/>
        </p:spPr>
        <p:txBody>
          <a:bodyPr wrap="square" lIns="254" tIns="254" rIns="254" bIns="254" rtlCol="0" anchor="ctr">
            <a:normAutofit/>
          </a:bodyPr>
          <a:lstStyle/>
          <a:p>
            <a:pPr indent="0" marL="0">
              <a:buNone/>
            </a:pPr>
            <a:r>
              <a:rPr lang="en-US" sz="2400" b="1" dirty="0">
                <a:solidFill>
                  <a:srgbClr val="0B2C4D"/>
                </a:solidFill>
                <a:latin typeface="Aptos Display" pitchFamily="34" charset="0"/>
                <a:ea typeface="Aptos Display" pitchFamily="34" charset="-122"/>
                <a:cs typeface="Aptos Display" pitchFamily="34" charset="-120"/>
              </a:rPr>
              <a:t>Urban Flow Analytics — Final Solution</a:t>
            </a:r>
            <a:endParaRPr lang="en-US" sz="2400" dirty="0"/>
          </a:p>
        </p:txBody>
      </p:sp>
      <p:sp>
        <p:nvSpPr>
          <p:cNvPr id="3" name="Text 1"/>
          <p:cNvSpPr/>
          <p:nvPr/>
        </p:nvSpPr>
        <p:spPr>
          <a:xfrm>
            <a:off x="521208" y="749808"/>
            <a:ext cx="9875520" cy="228600"/>
          </a:xfrm>
          <a:prstGeom prst="rect">
            <a:avLst/>
          </a:prstGeom>
          <a:noFill/>
          <a:ln/>
        </p:spPr>
        <p:txBody>
          <a:bodyPr wrap="square" lIns="254" tIns="254" rIns="254" bIns="254" rtlCol="0" anchor="ctr"/>
          <a:lstStyle/>
          <a:p>
            <a:pPr indent="0" marL="0">
              <a:buNone/>
            </a:pPr>
            <a:r>
              <a:rPr lang="en-US" sz="1050" dirty="0">
                <a:solidFill>
                  <a:srgbClr val="5E6B75"/>
                </a:solidFill>
              </a:rPr>
              <a:t>From trip records to operational decision support</a:t>
            </a:r>
            <a:endParaRPr lang="en-US" sz="1050" dirty="0"/>
          </a:p>
        </p:txBody>
      </p:sp>
      <p:sp>
        <p:nvSpPr>
          <p:cNvPr id="4" name="Text 2"/>
          <p:cNvSpPr/>
          <p:nvPr/>
        </p:nvSpPr>
        <p:spPr>
          <a:xfrm>
            <a:off x="640080" y="1143000"/>
            <a:ext cx="10789920" cy="384048"/>
          </a:xfrm>
          <a:prstGeom prst="rect">
            <a:avLst/>
          </a:prstGeom>
          <a:noFill/>
          <a:ln/>
        </p:spPr>
        <p:txBody>
          <a:bodyPr wrap="square" lIns="254" tIns="254" rIns="254" bIns="254" rtlCol="0" anchor="ctr">
            <a:normAutofit/>
          </a:bodyPr>
          <a:lstStyle/>
          <a:p>
            <a:pPr algn="ctr" indent="0" marL="0">
              <a:buNone/>
            </a:pPr>
            <a:r>
              <a:rPr lang="en-US" sz="2000" b="1" dirty="0">
                <a:solidFill>
                  <a:srgbClr val="0B2C4D"/>
                </a:solidFill>
              </a:rPr>
              <a:t>45.5M trips transformed into actionable operational intelligence</a:t>
            </a:r>
            <a:endParaRPr lang="en-US" sz="2000" dirty="0"/>
          </a:p>
        </p:txBody>
      </p:sp>
      <p:sp>
        <p:nvSpPr>
          <p:cNvPr id="5" name="Shape 3"/>
          <p:cNvSpPr/>
          <p:nvPr/>
        </p:nvSpPr>
        <p:spPr>
          <a:xfrm>
            <a:off x="868680" y="1847088"/>
            <a:ext cx="3246120" cy="502920"/>
          </a:xfrm>
          <a:prstGeom prst="roundRect">
            <a:avLst>
              <a:gd name="adj" fmla="val 10909"/>
            </a:avLst>
          </a:prstGeom>
          <a:solidFill>
            <a:srgbClr val="E9F4FF"/>
          </a:solidFill>
          <a:ln w="12700">
            <a:solidFill>
              <a:srgbClr val="FFFFFF">
                <a:alpha val="0"/>
              </a:srgbClr>
            </a:solidFill>
            <a:prstDash val="solid"/>
          </a:ln>
        </p:spPr>
      </p:sp>
      <p:sp>
        <p:nvSpPr>
          <p:cNvPr id="6" name="Text 4"/>
          <p:cNvSpPr/>
          <p:nvPr/>
        </p:nvSpPr>
        <p:spPr>
          <a:xfrm>
            <a:off x="1051560" y="1993392"/>
            <a:ext cx="2834640" cy="164592"/>
          </a:xfrm>
          <a:prstGeom prst="rect">
            <a:avLst/>
          </a:prstGeom>
          <a:noFill/>
          <a:ln/>
        </p:spPr>
        <p:txBody>
          <a:bodyPr wrap="square" lIns="127" tIns="127" rIns="127" bIns="127" rtlCol="0" anchor="ctr">
            <a:normAutofit/>
          </a:bodyPr>
          <a:lstStyle/>
          <a:p>
            <a:pPr indent="0" marL="0">
              <a:buNone/>
            </a:pPr>
            <a:r>
              <a:rPr lang="en-US" sz="960" b="1" dirty="0">
                <a:solidFill>
                  <a:srgbClr val="192B3A"/>
                </a:solidFill>
              </a:rPr>
              <a:t>✓ Fare Prediction</a:t>
            </a:r>
            <a:endParaRPr lang="en-US" sz="960" dirty="0"/>
          </a:p>
        </p:txBody>
      </p:sp>
      <p:sp>
        <p:nvSpPr>
          <p:cNvPr id="7" name="Shape 5"/>
          <p:cNvSpPr/>
          <p:nvPr/>
        </p:nvSpPr>
        <p:spPr>
          <a:xfrm>
            <a:off x="4617720" y="1847088"/>
            <a:ext cx="3246120" cy="502920"/>
          </a:xfrm>
          <a:prstGeom prst="roundRect">
            <a:avLst>
              <a:gd name="adj" fmla="val 10909"/>
            </a:avLst>
          </a:prstGeom>
          <a:solidFill>
            <a:srgbClr val="DDF7F5"/>
          </a:solidFill>
          <a:ln w="12700">
            <a:solidFill>
              <a:srgbClr val="FFFFFF">
                <a:alpha val="0"/>
              </a:srgbClr>
            </a:solidFill>
            <a:prstDash val="solid"/>
          </a:ln>
        </p:spPr>
      </p:sp>
      <p:sp>
        <p:nvSpPr>
          <p:cNvPr id="8" name="Text 6"/>
          <p:cNvSpPr/>
          <p:nvPr/>
        </p:nvSpPr>
        <p:spPr>
          <a:xfrm>
            <a:off x="4800600" y="1993392"/>
            <a:ext cx="2834640" cy="164592"/>
          </a:xfrm>
          <a:prstGeom prst="rect">
            <a:avLst/>
          </a:prstGeom>
          <a:noFill/>
          <a:ln/>
        </p:spPr>
        <p:txBody>
          <a:bodyPr wrap="square" lIns="127" tIns="127" rIns="127" bIns="127" rtlCol="0" anchor="ctr">
            <a:normAutofit/>
          </a:bodyPr>
          <a:lstStyle/>
          <a:p>
            <a:pPr indent="0" marL="0">
              <a:buNone/>
            </a:pPr>
            <a:r>
              <a:rPr lang="en-US" sz="960" b="1" dirty="0">
                <a:solidFill>
                  <a:srgbClr val="192B3A"/>
                </a:solidFill>
              </a:rPr>
              <a:t>✓ Trip Duration Prediction</a:t>
            </a:r>
            <a:endParaRPr lang="en-US" sz="960" dirty="0"/>
          </a:p>
        </p:txBody>
      </p:sp>
      <p:sp>
        <p:nvSpPr>
          <p:cNvPr id="9" name="Shape 7"/>
          <p:cNvSpPr/>
          <p:nvPr/>
        </p:nvSpPr>
        <p:spPr>
          <a:xfrm>
            <a:off x="8366760" y="1847088"/>
            <a:ext cx="3246120" cy="502920"/>
          </a:xfrm>
          <a:prstGeom prst="roundRect">
            <a:avLst>
              <a:gd name="adj" fmla="val 10909"/>
            </a:avLst>
          </a:prstGeom>
          <a:solidFill>
            <a:srgbClr val="F0EFFF"/>
          </a:solidFill>
          <a:ln w="12700">
            <a:solidFill>
              <a:srgbClr val="FFFFFF">
                <a:alpha val="0"/>
              </a:srgbClr>
            </a:solidFill>
            <a:prstDash val="solid"/>
          </a:ln>
        </p:spPr>
      </p:sp>
      <p:sp>
        <p:nvSpPr>
          <p:cNvPr id="10" name="Text 8"/>
          <p:cNvSpPr/>
          <p:nvPr/>
        </p:nvSpPr>
        <p:spPr>
          <a:xfrm>
            <a:off x="8549640" y="1993392"/>
            <a:ext cx="2834640" cy="164592"/>
          </a:xfrm>
          <a:prstGeom prst="rect">
            <a:avLst/>
          </a:prstGeom>
          <a:noFill/>
          <a:ln/>
        </p:spPr>
        <p:txBody>
          <a:bodyPr wrap="square" lIns="127" tIns="127" rIns="127" bIns="127" rtlCol="0" anchor="ctr">
            <a:normAutofit/>
          </a:bodyPr>
          <a:lstStyle/>
          <a:p>
            <a:pPr indent="0" marL="0">
              <a:buNone/>
            </a:pPr>
            <a:r>
              <a:rPr lang="en-US" sz="960" b="1" dirty="0">
                <a:solidFill>
                  <a:srgbClr val="192B3A"/>
                </a:solidFill>
              </a:rPr>
              <a:t>✓ 24–72h Demand Forecasting</a:t>
            </a:r>
            <a:endParaRPr lang="en-US" sz="960" dirty="0"/>
          </a:p>
        </p:txBody>
      </p:sp>
      <p:sp>
        <p:nvSpPr>
          <p:cNvPr id="11" name="Shape 9"/>
          <p:cNvSpPr/>
          <p:nvPr/>
        </p:nvSpPr>
        <p:spPr>
          <a:xfrm>
            <a:off x="868680" y="2651760"/>
            <a:ext cx="3246120" cy="502920"/>
          </a:xfrm>
          <a:prstGeom prst="roundRect">
            <a:avLst>
              <a:gd name="adj" fmla="val 10909"/>
            </a:avLst>
          </a:prstGeom>
          <a:solidFill>
            <a:srgbClr val="FFF2D9"/>
          </a:solidFill>
          <a:ln w="12700">
            <a:solidFill>
              <a:srgbClr val="FFFFFF">
                <a:alpha val="0"/>
              </a:srgbClr>
            </a:solidFill>
            <a:prstDash val="solid"/>
          </a:ln>
        </p:spPr>
      </p:sp>
      <p:sp>
        <p:nvSpPr>
          <p:cNvPr id="12" name="Text 10"/>
          <p:cNvSpPr/>
          <p:nvPr/>
        </p:nvSpPr>
        <p:spPr>
          <a:xfrm>
            <a:off x="1051560" y="2798064"/>
            <a:ext cx="2834640" cy="164592"/>
          </a:xfrm>
          <a:prstGeom prst="rect">
            <a:avLst/>
          </a:prstGeom>
          <a:noFill/>
          <a:ln/>
        </p:spPr>
        <p:txBody>
          <a:bodyPr wrap="square" lIns="127" tIns="127" rIns="127" bIns="127" rtlCol="0" anchor="ctr">
            <a:normAutofit/>
          </a:bodyPr>
          <a:lstStyle/>
          <a:p>
            <a:pPr indent="0" marL="0">
              <a:buNone/>
            </a:pPr>
            <a:r>
              <a:rPr lang="en-US" sz="960" b="1" dirty="0">
                <a:solidFill>
                  <a:srgbClr val="192B3A"/>
                </a:solidFill>
              </a:rPr>
              <a:t>✓ Hotspot &amp; OD Analytics</a:t>
            </a:r>
            <a:endParaRPr lang="en-US" sz="960" dirty="0"/>
          </a:p>
        </p:txBody>
      </p:sp>
      <p:sp>
        <p:nvSpPr>
          <p:cNvPr id="13" name="Shape 11"/>
          <p:cNvSpPr/>
          <p:nvPr/>
        </p:nvSpPr>
        <p:spPr>
          <a:xfrm>
            <a:off x="4617720" y="2651760"/>
            <a:ext cx="3246120" cy="502920"/>
          </a:xfrm>
          <a:prstGeom prst="roundRect">
            <a:avLst>
              <a:gd name="adj" fmla="val 10909"/>
            </a:avLst>
          </a:prstGeom>
          <a:solidFill>
            <a:srgbClr val="E8F7ED"/>
          </a:solidFill>
          <a:ln w="12700">
            <a:solidFill>
              <a:srgbClr val="FFFFFF">
                <a:alpha val="0"/>
              </a:srgbClr>
            </a:solidFill>
            <a:prstDash val="solid"/>
          </a:ln>
        </p:spPr>
      </p:sp>
      <p:sp>
        <p:nvSpPr>
          <p:cNvPr id="14" name="Text 12"/>
          <p:cNvSpPr/>
          <p:nvPr/>
        </p:nvSpPr>
        <p:spPr>
          <a:xfrm>
            <a:off x="4800600" y="2798064"/>
            <a:ext cx="2834640" cy="164592"/>
          </a:xfrm>
          <a:prstGeom prst="rect">
            <a:avLst/>
          </a:prstGeom>
          <a:noFill/>
          <a:ln/>
        </p:spPr>
        <p:txBody>
          <a:bodyPr wrap="square" lIns="127" tIns="127" rIns="127" bIns="127" rtlCol="0" anchor="ctr">
            <a:normAutofit/>
          </a:bodyPr>
          <a:lstStyle/>
          <a:p>
            <a:pPr indent="0" marL="0">
              <a:buNone/>
            </a:pPr>
            <a:r>
              <a:rPr lang="en-US" sz="960" b="1" dirty="0">
                <a:solidFill>
                  <a:srgbClr val="192B3A"/>
                </a:solidFill>
              </a:rPr>
              <a:t>✓ Business Dashboard</a:t>
            </a:r>
            <a:endParaRPr lang="en-US" sz="960" dirty="0"/>
          </a:p>
        </p:txBody>
      </p:sp>
      <p:sp>
        <p:nvSpPr>
          <p:cNvPr id="15" name="Shape 13"/>
          <p:cNvSpPr/>
          <p:nvPr/>
        </p:nvSpPr>
        <p:spPr>
          <a:xfrm>
            <a:off x="8366760" y="2651760"/>
            <a:ext cx="3246120" cy="502920"/>
          </a:xfrm>
          <a:prstGeom prst="roundRect">
            <a:avLst>
              <a:gd name="adj" fmla="val 10909"/>
            </a:avLst>
          </a:prstGeom>
          <a:solidFill>
            <a:srgbClr val="E9F4FF"/>
          </a:solidFill>
          <a:ln w="12700">
            <a:solidFill>
              <a:srgbClr val="FFFFFF">
                <a:alpha val="0"/>
              </a:srgbClr>
            </a:solidFill>
            <a:prstDash val="solid"/>
          </a:ln>
        </p:spPr>
      </p:sp>
      <p:sp>
        <p:nvSpPr>
          <p:cNvPr id="16" name="Text 14"/>
          <p:cNvSpPr/>
          <p:nvPr/>
        </p:nvSpPr>
        <p:spPr>
          <a:xfrm>
            <a:off x="8549640" y="2798064"/>
            <a:ext cx="2834640" cy="164592"/>
          </a:xfrm>
          <a:prstGeom prst="rect">
            <a:avLst/>
          </a:prstGeom>
          <a:noFill/>
          <a:ln/>
        </p:spPr>
        <p:txBody>
          <a:bodyPr wrap="square" lIns="127" tIns="127" rIns="127" bIns="127" rtlCol="0" anchor="ctr">
            <a:normAutofit/>
          </a:bodyPr>
          <a:lstStyle/>
          <a:p>
            <a:pPr indent="0" marL="0">
              <a:buNone/>
            </a:pPr>
            <a:r>
              <a:rPr lang="en-US" sz="960" b="1" dirty="0">
                <a:solidFill>
                  <a:srgbClr val="192B3A"/>
                </a:solidFill>
              </a:rPr>
              <a:t>✓ AI Mobility Assistant</a:t>
            </a:r>
            <a:endParaRPr lang="en-US" sz="960" dirty="0"/>
          </a:p>
        </p:txBody>
      </p:sp>
      <p:sp>
        <p:nvSpPr>
          <p:cNvPr id="17" name="Shape 15"/>
          <p:cNvSpPr/>
          <p:nvPr/>
        </p:nvSpPr>
        <p:spPr>
          <a:xfrm>
            <a:off x="914400" y="3703320"/>
            <a:ext cx="4709160" cy="1508760"/>
          </a:xfrm>
          <a:prstGeom prst="roundRect">
            <a:avLst>
              <a:gd name="adj" fmla="val 6061"/>
            </a:avLst>
          </a:prstGeom>
          <a:solidFill>
            <a:srgbClr val="FFFFFF"/>
          </a:solidFill>
          <a:ln w="17780">
            <a:solidFill>
              <a:srgbClr val="13A6A6"/>
            </a:solidFill>
            <a:prstDash val="solid"/>
          </a:ln>
        </p:spPr>
      </p:sp>
      <p:pic>
        <p:nvPicPr>
          <p:cNvPr id="37" name="dashboard_overview" descr="Source: reports/presentation_assets/dashboard_overview.png"/>
          <p:cNvPicPr>
            <a:picLocks noChangeAspect="1"/>
          </p:cNvPicPr>
          <p:nvPr/>
        </p:nvPicPr>
        <p:blipFill>
          <a:blip r:embed="rIdUfaAsset1"/>
          <a:srcRect b="62605"/>
          <a:stretch>
            <a:fillRect/>
          </a:stretch>
        </p:blipFill>
        <p:spPr>
          <a:xfrm>
            <a:off x="987400" y="3776320"/>
            <a:ext cx="4563160" cy="1362760"/>
          </a:xfrm>
          <a:prstGeom prst="rect">
            <a:avLst/>
          </a:prstGeom>
        </p:spPr>
      </p:pic>
      <p:sp>
        <p:nvSpPr>
          <p:cNvPr id="21" name="Shape 19"/>
          <p:cNvSpPr/>
          <p:nvPr/>
        </p:nvSpPr>
        <p:spPr>
          <a:xfrm>
            <a:off x="6583680" y="3703320"/>
            <a:ext cx="4709160" cy="1508760"/>
          </a:xfrm>
          <a:prstGeom prst="roundRect">
            <a:avLst>
              <a:gd name="adj" fmla="val 6061"/>
            </a:avLst>
          </a:prstGeom>
          <a:solidFill>
            <a:srgbClr val="FFFFFF"/>
          </a:solidFill>
          <a:ln w="17780">
            <a:solidFill>
              <a:srgbClr val="7367F0"/>
            </a:solidFill>
            <a:prstDash val="solid"/>
          </a:ln>
        </p:spPr>
      </p:sp>
      <p:pic>
        <p:nvPicPr>
          <p:cNvPr id="38" name="assistant_query_history" descr="Source: reports/presentation_assets/assistant_query_history.png"/>
          <p:cNvPicPr>
            <a:picLocks noChangeAspect="1"/>
          </p:cNvPicPr>
          <p:nvPr/>
        </p:nvPicPr>
        <p:blipFill>
          <a:blip r:embed="rIdUfaAsset2"/>
          <a:srcRect b="56995"/>
          <a:stretch>
            <a:fillRect/>
          </a:stretch>
        </p:blipFill>
        <p:spPr>
          <a:xfrm>
            <a:off x="6656680" y="3776320"/>
            <a:ext cx="4563160" cy="1362760"/>
          </a:xfrm>
          <a:prstGeom prst="rect">
            <a:avLst/>
          </a:prstGeom>
        </p:spPr>
      </p:pic>
      <p:sp>
        <p:nvSpPr>
          <p:cNvPr id="25" name="Text 23"/>
          <p:cNvSpPr/>
          <p:nvPr/>
        </p:nvSpPr>
        <p:spPr>
          <a:xfrm>
            <a:off x="2926080" y="5577840"/>
            <a:ext cx="6309360" cy="274320"/>
          </a:xfrm>
          <a:prstGeom prst="rect">
            <a:avLst/>
          </a:prstGeom>
          <a:noFill/>
          <a:ln/>
        </p:spPr>
        <p:txBody>
          <a:bodyPr wrap="square" lIns="254" tIns="254" rIns="254" bIns="254" rtlCol="0" anchor="ctr"/>
          <a:lstStyle/>
          <a:p>
            <a:pPr algn="ctr" indent="0" marL="0">
              <a:buNone/>
            </a:pPr>
            <a:r>
              <a:rPr lang="en-US" sz="1800" b="1" dirty="0">
                <a:solidFill>
                  <a:srgbClr val="0B2C4D"/>
                </a:solidFill>
              </a:rPr>
              <a:t>Team Merge Conflicts</a:t>
            </a:r>
            <a:endParaRPr lang="en-US" sz="1800" dirty="0"/>
          </a:p>
        </p:txBody>
      </p:sp>
      <p:sp>
        <p:nvSpPr>
          <p:cNvPr id="26" name="Text 24"/>
          <p:cNvSpPr/>
          <p:nvPr/>
        </p:nvSpPr>
        <p:spPr>
          <a:xfrm>
            <a:off x="4754880" y="5925312"/>
            <a:ext cx="2651760" cy="256032"/>
          </a:xfrm>
          <a:prstGeom prst="rect">
            <a:avLst/>
          </a:prstGeom>
          <a:noFill/>
          <a:ln/>
        </p:spPr>
        <p:txBody>
          <a:bodyPr wrap="square" lIns="254" tIns="254" rIns="254" bIns="254" rtlCol="0" anchor="ctr"/>
          <a:lstStyle/>
          <a:p>
            <a:pPr algn="ctr" indent="0" marL="0">
              <a:buNone/>
            </a:pPr>
            <a:r>
              <a:rPr lang="en-US" sz="1600" b="1" dirty="0">
                <a:solidFill>
                  <a:srgbClr val="13A6A6"/>
                </a:solidFill>
              </a:rPr>
              <a:t>Thank You</a:t>
            </a:r>
            <a:endParaRPr lang="en-US" sz="1600" dirty="0"/>
          </a:p>
        </p:txBody>
      </p:sp>
      <p:sp>
        <p:nvSpPr>
          <p:cNvPr id="27" name="Text 25"/>
          <p:cNvSpPr/>
          <p:nvPr/>
        </p:nvSpPr>
        <p:spPr>
          <a:xfrm>
            <a:off x="6400800" y="6601968"/>
            <a:ext cx="4572000" cy="164592"/>
          </a:xfrm>
          <a:prstGeom prst="rect">
            <a:avLst/>
          </a:prstGeom>
          <a:noFill/>
          <a:ln/>
        </p:spPr>
        <p:txBody>
          <a:bodyPr wrap="square" lIns="0" tIns="0" rIns="0" bIns="0" rtlCol="0" anchor="ctr"/>
          <a:lstStyle/>
          <a:p>
            <a:pPr algn="r" indent="0" marL="0">
              <a:buNone/>
            </a:pPr>
            <a:r>
              <a:rPr lang="en-US" sz="650" dirty="0">
                <a:solidFill>
                  <a:srgbClr val="5E6B75"/>
                </a:solidFill>
              </a:rPr>
              <a:t>4:05–4:20</a:t>
            </a:r>
            <a:endParaRPr lang="en-US" sz="650" dirty="0"/>
          </a:p>
        </p:txBody>
      </p:sp>
      <p:sp>
        <p:nvSpPr>
          <p:cNvPr id="28" name="Shape 26"/>
          <p:cNvSpPr/>
          <p:nvPr/>
        </p:nvSpPr>
        <p:spPr>
          <a:xfrm>
            <a:off x="566928" y="6263640"/>
            <a:ext cx="109728" cy="109728"/>
          </a:xfrm>
          <a:prstGeom prst="ellipse">
            <a:avLst/>
          </a:prstGeom>
          <a:solidFill>
            <a:srgbClr val="D5E6F2"/>
          </a:solidFill>
          <a:ln w="12700">
            <a:solidFill>
              <a:srgbClr val="D5E6F2"/>
            </a:solidFill>
            <a:prstDash val="solid"/>
          </a:ln>
        </p:spPr>
      </p:sp>
      <p:sp>
        <p:nvSpPr>
          <p:cNvPr id="29" name="Shape 27"/>
          <p:cNvSpPr/>
          <p:nvPr/>
        </p:nvSpPr>
        <p:spPr>
          <a:xfrm>
            <a:off x="1051560" y="6263640"/>
            <a:ext cx="109728" cy="109728"/>
          </a:xfrm>
          <a:prstGeom prst="ellipse">
            <a:avLst/>
          </a:prstGeom>
          <a:solidFill>
            <a:srgbClr val="D5E6F2"/>
          </a:solidFill>
          <a:ln w="12700">
            <a:solidFill>
              <a:srgbClr val="D5E6F2"/>
            </a:solidFill>
            <a:prstDash val="solid"/>
          </a:ln>
        </p:spPr>
      </p:sp>
      <p:sp>
        <p:nvSpPr>
          <p:cNvPr id="30" name="Shape 28"/>
          <p:cNvSpPr/>
          <p:nvPr/>
        </p:nvSpPr>
        <p:spPr>
          <a:xfrm>
            <a:off x="1536192" y="6263640"/>
            <a:ext cx="109728" cy="109728"/>
          </a:xfrm>
          <a:prstGeom prst="ellipse">
            <a:avLst/>
          </a:prstGeom>
          <a:solidFill>
            <a:srgbClr val="D5E6F2"/>
          </a:solidFill>
          <a:ln w="12700">
            <a:solidFill>
              <a:srgbClr val="D5E6F2"/>
            </a:solidFill>
            <a:prstDash val="solid"/>
          </a:ln>
        </p:spPr>
      </p:sp>
      <p:sp>
        <p:nvSpPr>
          <p:cNvPr id="31" name="Shape 29"/>
          <p:cNvSpPr/>
          <p:nvPr/>
        </p:nvSpPr>
        <p:spPr>
          <a:xfrm>
            <a:off x="2020824" y="6263640"/>
            <a:ext cx="109728" cy="109728"/>
          </a:xfrm>
          <a:prstGeom prst="ellipse">
            <a:avLst/>
          </a:prstGeom>
          <a:solidFill>
            <a:srgbClr val="D5E6F2"/>
          </a:solidFill>
          <a:ln w="12700">
            <a:solidFill>
              <a:srgbClr val="D5E6F2"/>
            </a:solidFill>
            <a:prstDash val="solid"/>
          </a:ln>
        </p:spPr>
      </p:sp>
      <p:sp>
        <p:nvSpPr>
          <p:cNvPr id="32" name="Shape 30"/>
          <p:cNvSpPr/>
          <p:nvPr/>
        </p:nvSpPr>
        <p:spPr>
          <a:xfrm>
            <a:off x="2505456" y="6263640"/>
            <a:ext cx="109728" cy="109728"/>
          </a:xfrm>
          <a:prstGeom prst="ellipse">
            <a:avLst/>
          </a:prstGeom>
          <a:solidFill>
            <a:srgbClr val="D5E6F2"/>
          </a:solidFill>
          <a:ln w="12700">
            <a:solidFill>
              <a:srgbClr val="D5E6F2"/>
            </a:solidFill>
            <a:prstDash val="solid"/>
          </a:ln>
        </p:spPr>
      </p:sp>
      <p:sp>
        <p:nvSpPr>
          <p:cNvPr id="33" name="Shape 31"/>
          <p:cNvSpPr/>
          <p:nvPr/>
        </p:nvSpPr>
        <p:spPr>
          <a:xfrm>
            <a:off x="2990088" y="6263640"/>
            <a:ext cx="109728" cy="109728"/>
          </a:xfrm>
          <a:prstGeom prst="ellipse">
            <a:avLst/>
          </a:prstGeom>
          <a:solidFill>
            <a:srgbClr val="D5E6F2"/>
          </a:solidFill>
          <a:ln w="12700">
            <a:solidFill>
              <a:srgbClr val="D5E6F2"/>
            </a:solidFill>
            <a:prstDash val="solid"/>
          </a:ln>
        </p:spPr>
      </p:sp>
      <p:sp>
        <p:nvSpPr>
          <p:cNvPr id="34" name="Shape 32"/>
          <p:cNvSpPr/>
          <p:nvPr/>
        </p:nvSpPr>
        <p:spPr>
          <a:xfrm>
            <a:off x="3474720" y="6263640"/>
            <a:ext cx="109728" cy="109728"/>
          </a:xfrm>
          <a:prstGeom prst="ellipse">
            <a:avLst/>
          </a:prstGeom>
          <a:solidFill>
            <a:srgbClr val="D5E6F2"/>
          </a:solidFill>
          <a:ln w="12700">
            <a:solidFill>
              <a:srgbClr val="D5E6F2"/>
            </a:solidFill>
            <a:prstDash val="solid"/>
          </a:ln>
        </p:spPr>
      </p:sp>
      <p:sp>
        <p:nvSpPr>
          <p:cNvPr id="35" name="Shape 33"/>
          <p:cNvSpPr/>
          <p:nvPr/>
        </p:nvSpPr>
        <p:spPr>
          <a:xfrm>
            <a:off x="3959352" y="6263640"/>
            <a:ext cx="109728" cy="109728"/>
          </a:xfrm>
          <a:prstGeom prst="ellipse">
            <a:avLst/>
          </a:prstGeom>
          <a:solidFill>
            <a:srgbClr val="D5E6F2"/>
          </a:solidFill>
          <a:ln w="12700">
            <a:solidFill>
              <a:srgbClr val="D5E6F2"/>
            </a:solidFill>
            <a:prstDash val="solid"/>
          </a:ln>
        </p:spPr>
      </p:sp>
      <p:sp>
        <p:nvSpPr>
          <p:cNvPr id="36" name="Shape 34"/>
          <p:cNvSpPr/>
          <p:nvPr/>
        </p:nvSpPr>
        <p:spPr>
          <a:xfrm>
            <a:off x="4443984" y="6263640"/>
            <a:ext cx="109728" cy="109728"/>
          </a:xfrm>
          <a:prstGeom prst="ellipse">
            <a:avLst/>
          </a:prstGeom>
          <a:solidFill>
            <a:srgbClr val="13A6A6"/>
          </a:solidFill>
          <a:ln w="12700">
            <a:solidFill>
              <a:srgbClr val="13A6A6"/>
            </a:solidFill>
            <a:prstDash val="solid"/>
          </a:ln>
        </p:spPr>
      </p:sp>
      <p:sp>
        <p:nvSpPr>
          <p:cNvPr id="25" name="Slide Number Placeholder 0"/>
          <p:cNvSpPr>
            <a:spLocks noGrp="1"/>
          </p:cNvSpPr>
          <p:nvPr>
            <p:ph type="sldNum" sz="quarter" idx="4294967295"/>
          </p:nvPr>
        </p:nvSpPr>
        <p:spPr>
          <a:xfrm>
            <a:off x="11228832" y="6565392"/>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B7B8B"/>
                </a:solidFill>
                <a:latin typeface="Aptos"/>
                <a:ea typeface="Aptos"/>
                <a:cs typeface="Aptos"/>
              </a:defRPr>
            </a:lvl1pPr>
          </a:lstStyle>
          <a:p>
            <a:pPr algn="l"/>
            <a:fld id="{F7021451-1387-4CA6-816F-3879F97B5CBC}" type="slidenum">
              <a:rPr b="0" lang="en-US"/>
              <a:t>9</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Merge Conflicts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Merge Conflicts Urban Flow Analytics Demo</dc:title>
  <dc:subject>Urban Flow Analytics Demo Deck</dc:subject>
  <dc:creator>Merge Conflicts</dc:creator>
  <cp:lastModifiedBy>Merge Conflicts</cp:lastModifiedBy>
  <cp:revision>1</cp:revision>
  <dcterms:created xsi:type="dcterms:W3CDTF">2026-09-11T12:09:59Z</dcterms:created>
  <dcterms:modified xsi:type="dcterms:W3CDTF">2026-09-11T12:09:59Z</dcterms:modified>
</cp:coreProperties>
</file>